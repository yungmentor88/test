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Open with scale and seriousness, not a logo on white.</a:t>
            </a:r>
          </a:p>
          <a:p/>
          <a:p>
            <a:r>
              <a:t>KEY MESSAGE — SHUMI is a global platform, and this deck behaves like one from the first frame.</a:t>
            </a:r>
          </a:p>
          <a:p/>
          <a:p>
            <a:r>
              <a:t>TRANSITION — Hold on the footage for a beat, then: 'Before we talk about pages, let's talk about the opportunity.'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Reframe the brief from 'a website' to 'a platform'.</a:t>
            </a:r>
          </a:p>
          <a:p/>
          <a:p>
            <a:r>
              <a:t>KEY MESSAGE — Eight content systems that currently live apart can reinforce each other.</a:t>
            </a:r>
          </a:p>
          <a:p/>
          <a:p>
            <a:r>
              <a:t>TRANSITION — 'So what should that platform feel like?'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State the vision in one line.</a:t>
            </a:r>
          </a:p>
          <a:p/>
          <a:p>
            <a:r>
              <a:t>KEY MESSAGE — The mission should be felt, not read.</a:t>
            </a:r>
          </a:p>
          <a:p/>
          <a:p>
            <a:r>
              <a:t>TRANSITION — 'Which leads to the idea the whole experience is built 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Land the organising idea.</a:t>
            </a:r>
          </a:p>
          <a:p/>
          <a:p>
            <a:r>
              <a:t>KEY MESSAGE — One woman's story is the near end of a chain that reaches the world. That is the architecture, not a tagline.</a:t>
            </a:r>
          </a:p>
          <a:p/>
          <a:p>
            <a:r>
              <a:t>TRANSITION — 'Four principles fall out of that idea.'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Give the client four things to hold on to.</a:t>
            </a:r>
          </a:p>
          <a:p/>
          <a:p>
            <a:r>
              <a:t>KEY MESSAGE — These principles govern every later decision in the deck.</a:t>
            </a:r>
          </a:p>
          <a:p/>
          <a:p>
            <a:r>
              <a:t>TRANSITION — 'They came from studying what already works — and what does not.'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Show rigour, and pre-empt 'did you just copy their site?'.</a:t>
            </a:r>
          </a:p>
          <a:p/>
          <a:p>
            <a:r>
              <a:t>KEY MESSAGE — We analysed the real code. We take the architecture and leave the credibility scaffolding SHUMI has not earned yet.</a:t>
            </a:r>
          </a:p>
          <a:p/>
          <a:p>
            <a:r>
              <a:t>TRANSITION — 'From that, three genuinely different ways to build SHUMI.'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Set up the three concepts.</a:t>
            </a:r>
          </a:p>
          <a:p/>
          <a:p>
            <a:r>
              <a:t>KEY MESSAGE — These are three different answers to what SHUMI is for, not three colourways.</a:t>
            </a:r>
          </a:p>
          <a:p/>
          <a:p>
            <a:r>
              <a:t>TRANSITION — 'Concept one.'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Present Editorial SHUMI on its own terms.</a:t>
            </a:r>
          </a:p>
          <a:p/>
          <a:p>
            <a:r>
              <a:t>KEY MESSAGE — Credibility through craft, not statistics.</a:t>
            </a:r>
          </a:p>
          <a:p/>
          <a:p>
            <a:r>
              <a:t>TRANSITION — 'And the third.'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Present SHUMI Global on its own terms.</a:t>
            </a:r>
          </a:p>
          <a:p/>
          <a:p>
            <a:r>
              <a:t>KEY MESSAGE — Geography as structure, not decoration.</a:t>
            </a:r>
          </a:p>
          <a:p/>
          <a:p>
            <a:r>
              <a:t>TRANSITION — 'And the third.'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Present Human Connection on its own terms.</a:t>
            </a:r>
          </a:p>
          <a:p/>
          <a:p>
            <a:r>
              <a:t>KEY MESSAGE — One woman, told properly.</a:t>
            </a:r>
          </a:p>
          <a:p/>
          <a:p>
            <a:r>
              <a:t>TRANSITION — 'So how do they compare?'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Show the comparison is real, not rigged for a favourite.</a:t>
            </a:r>
          </a:p>
          <a:p/>
          <a:p>
            <a:r>
              <a:t>KEY MESSAGE — The totals are within three points. What matters is which priority SHUMI weights.</a:t>
            </a:r>
          </a:p>
          <a:p/>
          <a:p>
            <a:r>
              <a:t>TRANSITION — 'Which is why we recommend combining them.'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Land the recommendation and its reasoning.</a:t>
            </a:r>
          </a:p>
          <a:p/>
          <a:p>
            <a:r>
              <a:t>KEY MESSAGE — A balance, not a formula. And we hold back the parts that would look empty.</a:t>
            </a:r>
          </a:p>
          <a:p/>
          <a:p>
            <a:r>
              <a:t>TRANSITION — 'Here is how that becomes a structure.'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Show the structure is designed for 2028, not just launch.</a:t>
            </a:r>
          </a:p>
          <a:p/>
          <a:p>
            <a:r>
              <a:t>KEY MESSAGE — Nine sections, and eight future features that already have a home.</a:t>
            </a:r>
          </a:p>
          <a:p/>
          <a:p>
            <a:r>
              <a:t>TRANSITION — 'Now the homepage as a journey through that structure.'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Show the homepage is composed, not assembled.</a:t>
            </a:r>
          </a:p>
          <a:p/>
          <a:p>
            <a:r>
              <a:t>KEY MESSAGE — Each section hands off to the next. The rhythm is designed.</a:t>
            </a:r>
          </a:p>
          <a:p/>
          <a:p>
            <a:r>
              <a:t>TRANSITION — 'It opens here.'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Show the hero working, not described.</a:t>
            </a:r>
          </a:p>
          <a:p/>
          <a:p>
            <a:r>
              <a:t>KEY MESSAGE — Headline is a creative direction, not approved copy. The negative space is a hard requirement.</a:t>
            </a:r>
          </a:p>
          <a:p/>
          <a:p>
            <a:r>
              <a:t>TRANSITION — 'Then SHUMI introduces itself.'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Show restraint as a design decision.</a:t>
            </a:r>
          </a:p>
          <a:p/>
          <a:p>
            <a:r>
              <a:t>KEY MESSAGE — We are not writing SHUMI's mission for them. The component is built; the words are theirs.</a:t>
            </a:r>
          </a:p>
          <a:p/>
          <a:p>
            <a:r>
              <a:t>TRANSITION — 'Then impact — the part everyone gets wrong.'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Show the impact mechanism and the honesty policy at once.</a:t>
            </a:r>
          </a:p>
          <a:p/>
          <a:p>
            <a:r>
              <a:t>KEY MESSAGE — Impact is not four tiles. It is a chain from a number to a person.</a:t>
            </a:r>
          </a:p>
          <a:p/>
          <a:p>
            <a:r>
              <a:t>TRANSITION — 'And the same chain runs outward, geographically.'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Pre-empt the client asking for an animated globe.</a:t>
            </a:r>
          </a:p>
          <a:p/>
          <a:p>
            <a:r>
              <a:t>KEY MESSAGE — We can build the map. We recommend earning it first.</a:t>
            </a:r>
          </a:p>
          <a:p/>
          <a:p>
            <a:r>
              <a:t>TRANSITION — 'Programmes work the same way.'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Show a scalable content system, not four hand-built pages.</a:t>
            </a:r>
          </a:p>
          <a:p/>
          <a:p>
            <a:r>
              <a:t>KEY MESSAGE — One component, filtered. It looks right with three programmes and with thirty.</a:t>
            </a:r>
          </a:p>
          <a:p/>
          <a:p>
            <a:r>
              <a:t>TRANSITION — 'The same discipline drives the most important system — stories.'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This is the emotional centre of the deck. Slow down here.</a:t>
            </a:r>
          </a:p>
          <a:p/>
          <a:p>
            <a:r>
              <a:t>KEY MESSAGE — One woman, told properly, beats six cards. And her record is structured so it connects outward.</a:t>
            </a:r>
          </a:p>
          <a:p/>
          <a:p>
            <a:r>
              <a:t>TRANSITION — 'Stories bring people in. Events bring them together.'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Named events as destinations — the one idea worth taking from the reference.</a:t>
            </a:r>
          </a:p>
          <a:p/>
          <a:p>
            <a:r>
              <a:t>KEY MESSAGE — And an honest position on Eventbrite: architected for, not claimed.</a:t>
            </a:r>
          </a:p>
          <a:p/>
          <a:p>
            <a:r>
              <a:t>TRANSITION — 'Once someone cares, they need a way in.'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Show conversion thinking, not a button row.</a:t>
            </a:r>
          </a:p>
          <a:p/>
          <a:p>
            <a:r>
              <a:t>KEY MESSAGE — The ask escalates. Donation is the end of a journey, not the front door.</a:t>
            </a:r>
          </a:p>
          <a:p/>
          <a:p>
            <a:r>
              <a:t>TRANSITION — 'And most of this happens on a phone.'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Mobile is where most visitors actually arrive.</a:t>
            </a:r>
          </a:p>
          <a:p/>
          <a:p>
            <a:r>
              <a:t>KEY MESSAGE — These are decisions, not responsive defaults.</a:t>
            </a:r>
          </a:p>
          <a:p/>
          <a:p>
            <a:r>
              <a:t>TRANSITION — 'Motion is the last layer of the experience.'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Show motion is governed, not sprinkled.</a:t>
            </a:r>
          </a:p>
          <a:p/>
          <a:p>
            <a:r>
              <a:t>KEY MESSAGE — Six moments, each with a reason. And a reduced-motion path that actually works.</a:t>
            </a:r>
          </a:p>
          <a:p/>
          <a:p>
            <a:r>
              <a:t>TRANSITION — 'Underneath all of it sits the content system.'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Show the CMS is designed, and that it protects SHUMI.</a:t>
            </a:r>
          </a:p>
          <a:p/>
          <a:p>
            <a:r>
              <a:t>KEY MESSAGE — Nine entities, relational. Two fields exist specifically to prevent accidental fabrication.</a:t>
            </a:r>
          </a:p>
          <a:p/>
          <a:p>
            <a:r>
              <a:t>TRANSITION — 'Briefly, what it runs 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Keep this short. The client is not buying a stack.</a:t>
            </a:r>
          </a:p>
          <a:p/>
          <a:p>
            <a:r>
              <a:t>KEY MESSAGE — Every choice traces back to something in the experience.</a:t>
            </a:r>
          </a:p>
          <a:p/>
          <a:p>
            <a:r>
              <a:t>TRANSITION — 'Here is how we would run it.'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Show process discipline.</a:t>
            </a:r>
          </a:p>
          <a:p/>
          <a:p>
            <a:r>
              <a:t>KEY MESSAGE — Steps 1–3 are already done and in front of them.</a:t>
            </a:r>
          </a:p>
          <a:p/>
          <a:p>
            <a:r>
              <a:t>TRANSITION — 'Which means the timeline starts from a running start.'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Be straight about the estimate.</a:t>
            </a:r>
          </a:p>
          <a:p/>
          <a:p>
            <a:r>
              <a:t>KEY MESSAGE — Content availability drives the timeline more than build does.</a:t>
            </a:r>
          </a:p>
          <a:p/>
          <a:p>
            <a:r>
              <a:t>TRANSITION — 'Here is exactly what you receive.'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Make the scope concrete.</a:t>
            </a:r>
          </a:p>
          <a:p/>
          <a:p>
            <a:r>
              <a:t>KEY MESSAGE — Sixteen deliverables across four stages.</a:t>
            </a:r>
          </a:p>
          <a:p/>
          <a:p>
            <a:r>
              <a:t>TRANSITION — 'And what it costs.'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Present the shape of the investment without inventing a number.</a:t>
            </a:r>
          </a:p>
          <a:p/>
          <a:p>
            <a:r>
              <a:t>KEY MESSAGE — Five workstreams. Pricing follows scope confirmation.</a:t>
            </a:r>
          </a:p>
          <a:p/>
          <a:p>
            <a:r>
              <a:t>TRANSITION — 'A word on who is doing the work.'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Keep it short and let the work speak.</a:t>
            </a:r>
          </a:p>
          <a:p/>
          <a:p>
            <a:r>
              <a:t>KEY MESSAGE — Do not oversell here — the previous thirty slides are the credential.</a:t>
            </a:r>
          </a:p>
          <a:p/>
          <a:p>
            <a:r>
              <a:t>TRANSITION — 'To close.'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— Close on scale and a clear next step.</a:t>
            </a:r>
          </a:p>
          <a:p/>
          <a:p>
            <a:r>
              <a:t>KEY MESSAGE — The ask is a decision on direction, not on budget.</a:t>
            </a:r>
          </a:p>
          <a:p/>
          <a:p>
            <a:r>
              <a:t>TRANSITION — Stop talking. Let the room respond.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jp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7.jp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10.jpg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6.jpg"/><Relationship Id="rId5" Type="http://schemas.openxmlformats.org/officeDocument/2006/relationships/image" Target="../media/image15.jpg"/><Relationship Id="rId6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16.jpg"/><Relationship Id="rId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2.jpg"/><Relationship Id="rId4" Type="http://schemas.openxmlformats.org/officeDocument/2006/relationships/image" Target="../media/image11.jpg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17.jpg"/><Relationship Id="rId5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0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1_global_wome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00E">
              <a:alpha val="57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8686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spc="-200">
                <a:solidFill>
                  <a:srgbClr val="F2EDE6"/>
                </a:solidFill>
                <a:latin typeface="Georgia"/>
              </a:rPr>
              <a:t>SHUMI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429000"/>
            <a:ext cx="1463040" cy="3810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7772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0">
                <a:solidFill>
                  <a:srgbClr val="F2EDE6"/>
                </a:solidFill>
                <a:latin typeface="Georgia"/>
              </a:rPr>
              <a:t>Website Design &amp; Digital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26280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spc="140">
                <a:solidFill>
                  <a:srgbClr val="E85D9E"/>
                </a:solidFill>
                <a:latin typeface="Corbel"/>
              </a:rPr>
              <a:t>A global digital platform for women's empowerment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spc="240">
                <a:solidFill>
                  <a:srgbClr val="F2EDE6"/>
                </a:solidFill>
                <a:latin typeface="Corbel"/>
              </a:rPr>
              <a:t>TEDCANLABS</a:t>
            </a:r>
          </a:p>
          <a:p>
            <a:pPr algn="l"/>
            <a:r>
              <a:rPr sz="1100" b="0" spc="80">
                <a:solidFill>
                  <a:srgbClr val="B3A89E"/>
                </a:solidFill>
                <a:latin typeface="Corbel"/>
              </a:rPr>
              <a:t>September 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  <mc:AlternateContent xmlns:mc="http://schemas.openxmlformats.org/markup-compatibility/2006" xmlns:p14="http://schemas.microsoft.com/office/powerpoint/2010/main">
    <mc:Choice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20">
                <a:solidFill>
                  <a:srgbClr val="A8265C"/>
                </a:solidFill>
                <a:latin typeface="Corbel"/>
              </a:rPr>
              <a:t>01 — 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67665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5400" b="0" spc="-150">
                <a:solidFill>
                  <a:srgbClr val="14100E"/>
                </a:solidFill>
                <a:latin typeface="Georgia"/>
              </a:rPr>
              <a:t>A website should</a:t>
            </a:r>
          </a:p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5400" b="0" spc="-150">
                <a:solidFill>
                  <a:srgbClr val="14100E"/>
                </a:solidFill>
                <a:latin typeface="Georgia"/>
              </a:rPr>
              <a:t>be more than</a:t>
            </a:r>
          </a:p>
          <a:p>
            <a:pPr algn="l">
              <a:lnSpc>
                <a:spcPct val="98000"/>
              </a:lnSpc>
            </a:pPr>
            <a:r>
              <a:rPr sz="5400" b="0" spc="-150">
                <a:solidFill>
                  <a:srgbClr val="4A1228"/>
                </a:solidFill>
                <a:latin typeface="Georgia"/>
              </a:rPr>
              <a:t>a website.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4937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B6259"/>
                </a:solidFill>
                <a:latin typeface="Corbel"/>
              </a:rPr>
              <a:t>SHUMI has the opportunity to build not a brochure, but a platform — one place where women, stories, programmes, events, resources, communities and partners connect to each other.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0" y="1517904"/>
            <a:ext cx="146304" cy="2540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47888" y="13716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4100E"/>
                </a:solidFill>
                <a:latin typeface="Georgia"/>
              </a:rPr>
              <a:t>Women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0" y="1993392"/>
            <a:ext cx="146304" cy="2540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47888" y="184708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4100E"/>
                </a:solidFill>
                <a:latin typeface="Georgia"/>
              </a:rPr>
              <a:t>Stories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2468880"/>
            <a:ext cx="146304" cy="2540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7888" y="2322576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4100E"/>
                </a:solidFill>
                <a:latin typeface="Georgia"/>
              </a:rPr>
              <a:t>Programmes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2944368"/>
            <a:ext cx="146304" cy="2540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279806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4100E"/>
                </a:solidFill>
                <a:latin typeface="Georgia"/>
              </a:rPr>
              <a:t>Events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3419856"/>
            <a:ext cx="146304" cy="2540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327355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4100E"/>
                </a:solidFill>
                <a:latin typeface="Georgia"/>
              </a:rPr>
              <a:t>Resources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3895344"/>
            <a:ext cx="146304" cy="2540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374904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4100E"/>
                </a:solidFill>
                <a:latin typeface="Georgia"/>
              </a:rPr>
              <a:t>Communities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4370832"/>
            <a:ext cx="146304" cy="2540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422452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4100E"/>
                </a:solidFill>
                <a:latin typeface="Georgia"/>
              </a:rPr>
              <a:t>Partners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4846320"/>
            <a:ext cx="146304" cy="2540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4700016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4100E"/>
                </a:solidFill>
                <a:latin typeface="Georgia"/>
              </a:rPr>
              <a:t>Opportunities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spc="120">
                <a:solidFill>
                  <a:srgbClr val="6B6259"/>
                </a:solidFill>
                <a:latin typeface="Corbel"/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12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1-portrait-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0"/>
            <a:ext cx="4050791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138160" y="0"/>
            <a:ext cx="4050791" cy="6858000"/>
          </a:xfrm>
          <a:prstGeom prst="rect">
            <a:avLst/>
          </a:prstGeom>
          <a:solidFill>
            <a:srgbClr val="4A1228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20">
                <a:solidFill>
                  <a:srgbClr val="E85D9E"/>
                </a:solidFill>
                <a:latin typeface="Corbel"/>
              </a:rPr>
              <a:t>02 — THE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67665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4000" b="0" spc="-100">
                <a:solidFill>
                  <a:srgbClr val="F2EDE6"/>
                </a:solidFill>
                <a:latin typeface="Georgia"/>
              </a:rPr>
              <a:t>Make SHUMI's mission</a:t>
            </a:r>
          </a:p>
          <a:p>
            <a:pPr algn="l">
              <a:lnSpc>
                <a:spcPct val="104000"/>
              </a:lnSpc>
            </a:pPr>
            <a:r>
              <a:rPr sz="4000" b="0" spc="-100">
                <a:solidFill>
                  <a:srgbClr val="E85D9E"/>
                </a:solidFill>
                <a:latin typeface="Georgia"/>
              </a:rPr>
              <a:t>experienceable.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5852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>
                <a:solidFill>
                  <a:srgbClr val="F2EDE6"/>
                </a:solidFill>
                <a:latin typeface="Corbel"/>
              </a:rPr>
              <a:t>Create a digital experience that makes SHUMI's mission tangible — connecting women, communities, stories and opportunities across the world.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029200"/>
            <a:ext cx="1188720" cy="2540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212080"/>
            <a:ext cx="1463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0">
                <a:solidFill>
                  <a:srgbClr val="F2EDE6"/>
                </a:solidFill>
                <a:latin typeface="Georgia"/>
              </a:rPr>
              <a:t>Global</a:t>
            </a:r>
          </a:p>
          <a:p>
            <a:pPr algn="l"/>
            <a:r>
              <a:rPr sz="1000" b="0" spc="60">
                <a:solidFill>
                  <a:srgbClr val="E85D9E"/>
                </a:solidFill>
                <a:latin typeface="Corbel"/>
              </a:rPr>
              <a:t>Not generic</a:t>
            </a:r>
          </a:p>
        </p:txBody>
      </p:sp>
      <p:sp>
        <p:nvSpPr>
          <p:cNvPr id="9" name="Rectangle 8"/>
          <p:cNvSpPr/>
          <p:nvPr/>
        </p:nvSpPr>
        <p:spPr>
          <a:xfrm>
            <a:off x="2450592" y="5029200"/>
            <a:ext cx="1188720" cy="2540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50592" y="5212080"/>
            <a:ext cx="1463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0">
                <a:solidFill>
                  <a:srgbClr val="F2EDE6"/>
                </a:solidFill>
                <a:latin typeface="Georgia"/>
              </a:rPr>
              <a:t>Human</a:t>
            </a:r>
          </a:p>
          <a:p>
            <a:pPr algn="l"/>
            <a:r>
              <a:rPr sz="1000" b="0" spc="60">
                <a:solidFill>
                  <a:srgbClr val="E85D9E"/>
                </a:solidFill>
                <a:latin typeface="Corbel"/>
              </a:rPr>
              <a:t>People before jargon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78224" y="5029200"/>
            <a:ext cx="1188720" cy="2540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78224" y="5212080"/>
            <a:ext cx="1463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0">
                <a:solidFill>
                  <a:srgbClr val="F2EDE6"/>
                </a:solidFill>
                <a:latin typeface="Georgia"/>
              </a:rPr>
              <a:t>Bold</a:t>
            </a:r>
          </a:p>
          <a:p>
            <a:pPr algn="l"/>
            <a:r>
              <a:rPr sz="1000" b="0" spc="60">
                <a:solidFill>
                  <a:srgbClr val="E85D9E"/>
                </a:solidFill>
                <a:latin typeface="Corbel"/>
              </a:rPr>
              <a:t>Confident, not loud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05856" y="5029200"/>
            <a:ext cx="1188720" cy="2540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05856" y="5212080"/>
            <a:ext cx="1463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0">
                <a:solidFill>
                  <a:srgbClr val="F2EDE6"/>
                </a:solidFill>
                <a:latin typeface="Georgia"/>
              </a:rPr>
              <a:t>Dynamic</a:t>
            </a:r>
          </a:p>
          <a:p>
            <a:pPr algn="l"/>
            <a:r>
              <a:rPr sz="1000" b="0" spc="60">
                <a:solidFill>
                  <a:srgbClr val="E85D9E"/>
                </a:solidFill>
                <a:latin typeface="Corbel"/>
              </a:rPr>
              <a:t>Built to grow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spc="120">
                <a:solidFill>
                  <a:srgbClr val="F2EDE6"/>
                </a:solidFill>
                <a:latin typeface="Corbel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0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20">
                <a:solidFill>
                  <a:srgbClr val="E85D9E"/>
                </a:solidFill>
                <a:latin typeface="Corbel"/>
              </a:rPr>
              <a:t>03 — THE CREATIVE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200" b="0" spc="-190">
                <a:solidFill>
                  <a:srgbClr val="F2EDE6"/>
                </a:solidFill>
                <a:latin typeface="Georgia"/>
              </a:rPr>
              <a:t>The world through her.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7498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B3A89E"/>
                </a:solidFill>
                <a:latin typeface="Corbel"/>
              </a:rPr>
              <a:t>Not “women around the world” — that is a category. “The world through her” is a lens.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60520"/>
            <a:ext cx="1481328" cy="548640"/>
          </a:xfrm>
          <a:prstGeom prst="rect">
            <a:avLst/>
          </a:prstGeom>
          <a:solidFill>
            <a:srgbClr val="14100E"/>
          </a:solidFill>
          <a:ln w="12700">
            <a:solidFill>
              <a:srgbClr val="E85D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334256"/>
            <a:ext cx="1481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spc="120">
                <a:solidFill>
                  <a:srgbClr val="E85D9E"/>
                </a:solidFill>
                <a:latin typeface="Corbel"/>
              </a:rPr>
              <a:t>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4306824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B3A89E"/>
                </a:solidFill>
                <a:latin typeface="Corbel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624328" y="4160520"/>
            <a:ext cx="1481328" cy="548640"/>
          </a:xfrm>
          <a:prstGeom prst="rect">
            <a:avLst/>
          </a:prstGeom>
          <a:solidFill>
            <a:srgbClr val="14100E"/>
          </a:solidFill>
          <a:ln w="12700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24328" y="4334256"/>
            <a:ext cx="1481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spc="120">
                <a:solidFill>
                  <a:srgbClr val="F2EDE6"/>
                </a:solidFill>
                <a:latin typeface="Corbel"/>
              </a:rPr>
              <a:t>HER 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05656" y="4306824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B3A89E"/>
                </a:solidFill>
                <a:latin typeface="Corbel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5696" y="4160520"/>
            <a:ext cx="1481328" cy="548640"/>
          </a:xfrm>
          <a:prstGeom prst="rect">
            <a:avLst/>
          </a:prstGeom>
          <a:solidFill>
            <a:srgbClr val="14100E"/>
          </a:solidFill>
          <a:ln w="12700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5696" y="4334256"/>
            <a:ext cx="1481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spc="120">
                <a:solidFill>
                  <a:srgbClr val="F2EDE6"/>
                </a:solidFill>
                <a:latin typeface="Corbel"/>
              </a:rPr>
              <a:t>HER COMMUNITY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07024" y="4306824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B3A89E"/>
                </a:solidFill>
                <a:latin typeface="Corbel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27064" y="4160520"/>
            <a:ext cx="1481328" cy="548640"/>
          </a:xfrm>
          <a:prstGeom prst="rect">
            <a:avLst/>
          </a:prstGeom>
          <a:solidFill>
            <a:srgbClr val="14100E"/>
          </a:solidFill>
          <a:ln w="12700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27064" y="4334256"/>
            <a:ext cx="1481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spc="120">
                <a:solidFill>
                  <a:srgbClr val="F2EDE6"/>
                </a:solidFill>
                <a:latin typeface="Corbel"/>
              </a:rPr>
              <a:t>HER OPPORTUNITY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4306824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B3A89E"/>
                </a:solidFill>
                <a:latin typeface="Corbel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2" y="4160520"/>
            <a:ext cx="1481328" cy="548640"/>
          </a:xfrm>
          <a:prstGeom prst="rect">
            <a:avLst/>
          </a:prstGeom>
          <a:solidFill>
            <a:srgbClr val="14100E"/>
          </a:solidFill>
          <a:ln w="12700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2" y="4334256"/>
            <a:ext cx="1481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spc="120">
                <a:solidFill>
                  <a:srgbClr val="F2EDE6"/>
                </a:solidFill>
                <a:latin typeface="Corbel"/>
              </a:rPr>
              <a:t>HER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4306824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B3A89E"/>
                </a:solidFill>
                <a:latin typeface="Corbel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29800" y="4160520"/>
            <a:ext cx="1481328" cy="548640"/>
          </a:xfrm>
          <a:prstGeom prst="rect">
            <a:avLst/>
          </a:prstGeom>
          <a:solidFill>
            <a:srgbClr val="14100E"/>
          </a:solidFill>
          <a:ln w="12700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29800" y="4334256"/>
            <a:ext cx="1481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spc="120">
                <a:solidFill>
                  <a:srgbClr val="F2EDE6"/>
                </a:solidFill>
                <a:latin typeface="Corbel"/>
              </a:rPr>
              <a:t>THE WORLD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1206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85D9E"/>
                </a:solidFill>
                <a:latin typeface="Corbel"/>
              </a:rPr>
              <a:t>Every piece of content sits somewhere on this line. The design's job is to make the line visible.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spc="120">
                <a:solidFill>
                  <a:srgbClr val="B3A89E"/>
                </a:solidFill>
                <a:latin typeface="Corbel"/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20">
                <a:solidFill>
                  <a:srgbClr val="A8265C"/>
                </a:solidFill>
                <a:latin typeface="Corbel"/>
              </a:rPr>
              <a:t>04 — DESIGN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spc="-100">
                <a:solidFill>
                  <a:srgbClr val="14100E"/>
                </a:solidFill>
                <a:latin typeface="Georgia"/>
              </a:rPr>
              <a:t>Four principles.</a:t>
            </a:r>
          </a:p>
        </p:txBody>
      </p:sp>
      <p:pic>
        <p:nvPicPr>
          <p:cNvPr id="4" name="Picture 3" descr="c2-generatio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03120"/>
            <a:ext cx="2487168" cy="1691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22960" y="3977639"/>
            <a:ext cx="2487168" cy="2540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248716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1" spc="160">
                <a:solidFill>
                  <a:srgbClr val="A8265C"/>
                </a:solidFill>
                <a:latin typeface="Corbel"/>
              </a:rPr>
              <a:t>01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900" b="0">
                <a:solidFill>
                  <a:srgbClr val="14100E"/>
                </a:solidFill>
                <a:latin typeface="Georgia"/>
              </a:rPr>
              <a:t>Human first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6B6259"/>
                </a:solidFill>
                <a:latin typeface="Corbel"/>
              </a:rPr>
              <a:t>Real people and authentic stories before organisational language.</a:t>
            </a:r>
          </a:p>
        </p:txBody>
      </p:sp>
      <p:pic>
        <p:nvPicPr>
          <p:cNvPr id="7" name="Picture 6" descr="c1-her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103120"/>
            <a:ext cx="2487168" cy="16916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11880" y="3977639"/>
            <a:ext cx="2487168" cy="2540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4160520"/>
            <a:ext cx="248716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1" spc="160">
                <a:solidFill>
                  <a:srgbClr val="A8265C"/>
                </a:solidFill>
                <a:latin typeface="Corbel"/>
              </a:rPr>
              <a:t>02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900" b="0">
                <a:solidFill>
                  <a:srgbClr val="14100E"/>
                </a:solidFill>
                <a:latin typeface="Georgia"/>
              </a:rPr>
              <a:t>Global by design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6B6259"/>
                </a:solidFill>
                <a:latin typeface="Corbel"/>
              </a:rPr>
              <a:t>A worldwide perspective carried by specificity, never by landmarks.</a:t>
            </a:r>
          </a:p>
        </p:txBody>
      </p:sp>
      <p:pic>
        <p:nvPicPr>
          <p:cNvPr id="10" name="Picture 9" descr="c3-speak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103120"/>
            <a:ext cx="2487168" cy="16916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0" y="3977639"/>
            <a:ext cx="2487168" cy="2540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160520"/>
            <a:ext cx="248716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1" spc="160">
                <a:solidFill>
                  <a:srgbClr val="A8265C"/>
                </a:solidFill>
                <a:latin typeface="Corbel"/>
              </a:rPr>
              <a:t>03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900" b="0">
                <a:solidFill>
                  <a:srgbClr val="14100E"/>
                </a:solidFill>
                <a:latin typeface="Georgia"/>
              </a:rPr>
              <a:t>Impact made visible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6B6259"/>
                </a:solidFill>
                <a:latin typeface="Corbel"/>
              </a:rPr>
              <a:t>Turn impact into visual storytelling, not four tiles of numbers.</a:t>
            </a:r>
          </a:p>
        </p:txBody>
      </p:sp>
      <p:pic>
        <p:nvPicPr>
          <p:cNvPr id="13" name="Picture 12" descr="c3-study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0" y="2103120"/>
            <a:ext cx="2487168" cy="169164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9189720" y="3977639"/>
            <a:ext cx="2487168" cy="2540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4160520"/>
            <a:ext cx="248716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1" spc="160">
                <a:solidFill>
                  <a:srgbClr val="A8265C"/>
                </a:solidFill>
                <a:latin typeface="Corbel"/>
              </a:rPr>
              <a:t>04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900" b="0">
                <a:solidFill>
                  <a:srgbClr val="14100E"/>
                </a:solidFill>
                <a:latin typeface="Georgia"/>
              </a:rPr>
              <a:t>Designed for movement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6B6259"/>
                </a:solidFill>
                <a:latin typeface="Corbel"/>
              </a:rPr>
              <a:t>An evolving platform, architected to grow without redesign.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spc="120">
                <a:solidFill>
                  <a:srgbClr val="6B6259"/>
                </a:solidFill>
                <a:latin typeface="Corbel"/>
              </a:rP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20">
                <a:solidFill>
                  <a:srgbClr val="A8265C"/>
                </a:solidFill>
                <a:latin typeface="Corbel"/>
              </a:rPr>
              <a:t>05 — THE REFERENCE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0" spc="-100">
                <a:solidFill>
                  <a:srgbClr val="14100E"/>
                </a:solidFill>
                <a:latin typeface="Georgia"/>
              </a:rPr>
              <a:t>Inspired by principles. Not copied.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48840"/>
            <a:ext cx="5029200" cy="37490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148840"/>
            <a:ext cx="5029200" cy="38100"/>
          </a:xfrm>
          <a:prstGeom prst="rect">
            <a:avLst/>
          </a:prstGeom>
          <a:solidFill>
            <a:srgbClr val="A82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423160"/>
            <a:ext cx="43891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100" b="1" spc="200">
                <a:solidFill>
                  <a:srgbClr val="A8265C"/>
                </a:solidFill>
                <a:latin typeface="Corbel"/>
              </a:rPr>
              <a:t>WHAT WE TAKE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>
                <a:solidFill>
                  <a:srgbClr val="14100E"/>
                </a:solidFill>
                <a:latin typeface="Georgia"/>
              </a:rPr>
              <a:t>Named events as destinations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100" b="0">
                <a:solidFill>
                  <a:srgbClr val="6B6259"/>
                </a:solidFill>
                <a:latin typeface="Corbel"/>
              </a:rPr>
              <a:t>An event with its own identity and URL converts far better than a row in a list.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>
                <a:solidFill>
                  <a:srgbClr val="14100E"/>
                </a:solidFill>
                <a:latin typeface="Georgia"/>
              </a:rPr>
              <a:t>Event-first architecture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100" b="0">
                <a:solidFill>
                  <a:srgbClr val="6B6259"/>
                </a:solidFill>
                <a:latin typeface="Corbel"/>
              </a:rPr>
              <a:t>Organised around “when can I come” — the right priority for an organisation that gathers people.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>
                <a:solidFill>
                  <a:srgbClr val="14100E"/>
                </a:solidFill>
                <a:latin typeface="Georgia"/>
              </a:rPr>
              <a:t>Attributed testimonials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259"/>
                </a:solidFill>
                <a:latin typeface="Corbel"/>
              </a:rPr>
              <a:t>Real names against real quotes. The credibility mechanism is right.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148840"/>
            <a:ext cx="5029200" cy="3749039"/>
          </a:xfrm>
          <a:prstGeom prst="rect">
            <a:avLst/>
          </a:prstGeom>
          <a:solidFill>
            <a:srgbClr val="14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2148840"/>
            <a:ext cx="5029200" cy="3810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423160"/>
            <a:ext cx="43891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100" b="1" spc="200">
                <a:solidFill>
                  <a:srgbClr val="E85D9E"/>
                </a:solidFill>
                <a:latin typeface="Corbel"/>
              </a:rPr>
              <a:t>WHAT WE LEAVE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>
                <a:solidFill>
                  <a:srgbClr val="F2EDE6"/>
                </a:solidFill>
                <a:latin typeface="Georgia"/>
              </a:rPr>
              <a:t>The statistics band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100" b="0">
                <a:solidFill>
                  <a:srgbClr val="B3A89E"/>
                </a:solidFill>
                <a:latin typeface="Corbel"/>
              </a:rPr>
              <a:t>8000+ attendees, 250K+ viewers. SHUMI has no such figures, and inventing them is out of the question.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>
                <a:solidFill>
                  <a:srgbClr val="F2EDE6"/>
                </a:solidFill>
                <a:latin typeface="Georgia"/>
              </a:rPr>
              <a:t>The press-logo marquee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100" b="0">
                <a:solidFill>
                  <a:srgbClr val="B3A89E"/>
                </a:solidFill>
                <a:latin typeface="Corbel"/>
              </a:rPr>
              <a:t>A row of logos SHUMI has not earned is a lie with a design system around it.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>
                <a:solidFill>
                  <a:srgbClr val="F2EDE6"/>
                </a:solidFill>
                <a:latin typeface="Georgia"/>
              </a:rPr>
              <a:t>Four competing typefaces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B3A89E"/>
                </a:solidFill>
                <a:latin typeface="Corbel"/>
              </a:rPr>
              <a:t>And a heading order running h1 → h3 → h4 → h2, which scrambles the page for screen readers.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259"/>
                </a:solidFill>
                <a:latin typeface="Corbel"/>
              </a:rPr>
              <a:t>Studied from the reference's actual markup — not from impression.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spc="120">
                <a:solidFill>
                  <a:srgbClr val="6B6259"/>
                </a:solidFill>
                <a:latin typeface="Corbel"/>
              </a:rP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0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2_human_connecti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00E">
              <a:alpha val="6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20">
                <a:solidFill>
                  <a:srgbClr val="E85D9E"/>
                </a:solidFill>
                <a:latin typeface="Corbel"/>
              </a:rPr>
              <a:t>06 — THREE DIRECTIONS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8229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5000" b="0" spc="-140">
                <a:solidFill>
                  <a:srgbClr val="F2EDE6"/>
                </a:solidFill>
                <a:latin typeface="Georgia"/>
              </a:rPr>
              <a:t>Three ways to</a:t>
            </a:r>
          </a:p>
          <a:p>
            <a:pPr algn="l">
              <a:lnSpc>
                <a:spcPct val="100000"/>
              </a:lnSpc>
            </a:pPr>
            <a:r>
              <a:rPr sz="5000" b="0" spc="-140">
                <a:solidFill>
                  <a:srgbClr val="F2EDE6"/>
                </a:solidFill>
                <a:latin typeface="Georgia"/>
              </a:rPr>
              <a:t>experience SHUMI.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114800"/>
            <a:ext cx="2926080" cy="2540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3108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1" spc="180">
                <a:solidFill>
                  <a:srgbClr val="E85D9E"/>
                </a:solidFill>
                <a:latin typeface="Corbel"/>
              </a:rPr>
              <a:t>01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3000" b="0" spc="-50">
                <a:solidFill>
                  <a:srgbClr val="F2EDE6"/>
                </a:solidFill>
                <a:latin typeface="Georgia"/>
              </a:rPr>
              <a:t>Editorial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B3A89E"/>
                </a:solidFill>
                <a:latin typeface="Corbel"/>
              </a:rPr>
              <a:t>The world's editorial voice for women.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4114800"/>
            <a:ext cx="2926080" cy="25400"/>
          </a:xfrm>
          <a:prstGeom prst="rect">
            <a:avLst/>
          </a:prstGeom>
          <a:solidFill>
            <a:srgbClr val="F2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4297680"/>
            <a:ext cx="3108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1" spc="180">
                <a:solidFill>
                  <a:srgbClr val="F2EDE6"/>
                </a:solidFill>
                <a:latin typeface="Corbel"/>
              </a:rPr>
              <a:t>02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3000" b="0" spc="-50">
                <a:solidFill>
                  <a:srgbClr val="F2EDE6"/>
                </a:solidFill>
                <a:latin typeface="Georgia"/>
              </a:rPr>
              <a:t>Global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B3A89E"/>
                </a:solidFill>
                <a:latin typeface="Corbel"/>
              </a:rPr>
              <a:t>A network connecting women and opportunity.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4114800"/>
            <a:ext cx="2926080" cy="25400"/>
          </a:xfrm>
          <a:prstGeom prst="rect">
            <a:avLst/>
          </a:prstGeom>
          <a:solidFill>
            <a:srgbClr val="F2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4297680"/>
            <a:ext cx="3108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1" spc="180">
                <a:solidFill>
                  <a:srgbClr val="F2EDE6"/>
                </a:solidFill>
                <a:latin typeface="Corbel"/>
              </a:rPr>
              <a:t>03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3000" b="0" spc="-50">
                <a:solidFill>
                  <a:srgbClr val="F2EDE6"/>
                </a:solidFill>
                <a:latin typeface="Georgia"/>
              </a:rPr>
              <a:t>Human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B3A89E"/>
                </a:solidFill>
                <a:latin typeface="Corbel"/>
              </a:rPr>
              <a:t>A platform built on real women's stories.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5D9E"/>
                </a:solidFill>
                <a:latin typeface="Corbel"/>
              </a:rPr>
              <a:t>Genuinely different design philosophies — not one design in three palettes.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spc="120">
                <a:solidFill>
                  <a:srgbClr val="B3A89E"/>
                </a:solidFill>
                <a:latin typeface="Corbel"/>
              </a:rPr>
              <a:t>07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  <mc:AlternateContent xmlns:mc="http://schemas.openxmlformats.org/markup-compatibility/2006" xmlns:p14="http://schemas.microsoft.com/office/powerpoint/2010/main"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12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1-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0"/>
            <a:ext cx="523951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49440" y="0"/>
            <a:ext cx="5239512" cy="6858000"/>
          </a:xfrm>
          <a:prstGeom prst="rect">
            <a:avLst/>
          </a:prstGeom>
          <a:solidFill>
            <a:srgbClr val="4A1228">
              <a:alpha val="17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20">
                <a:solidFill>
                  <a:srgbClr val="E85D9E"/>
                </a:solidFill>
                <a:latin typeface="Corbel"/>
              </a:rPr>
              <a:t>07 — CONCEPT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5669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0" spc="-120">
                <a:solidFill>
                  <a:srgbClr val="F2EDE6"/>
                </a:solidFill>
                <a:latin typeface="Georgia"/>
              </a:rPr>
              <a:t>Editorial SHUMI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E85D9E"/>
                </a:solidFill>
                <a:latin typeface="Georgia"/>
              </a:rPr>
              <a:t>Credibility through craft, not statistics.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5486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B3A89E"/>
                </a:solidFill>
                <a:latin typeface="Corbel"/>
              </a:rPr>
              <a:t>SHUMI as a publication with a point of view. The only stance that lets a young organisation look serious today — with no numbers, no press and no partner logos.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895344"/>
            <a:ext cx="118872" cy="1905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37947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2EDE6"/>
                </a:solidFill>
                <a:latin typeface="Corbel"/>
              </a:rPr>
              <a:t>Large editorial typography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206240"/>
            <a:ext cx="118872" cy="1905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410565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2EDE6"/>
                </a:solidFill>
                <a:latin typeface="Corbel"/>
              </a:rPr>
              <a:t>Asymmetric, grid-breaking layouts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517136"/>
            <a:ext cx="118872" cy="1905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44165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2EDE6"/>
                </a:solidFill>
                <a:latin typeface="Corbel"/>
              </a:rPr>
              <a:t>Full-bleed photography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828032"/>
            <a:ext cx="118872" cy="1905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472744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2EDE6"/>
                </a:solidFill>
                <a:latin typeface="Corbel"/>
              </a:rPr>
              <a:t>Oversized pull quotes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138928"/>
            <a:ext cx="118872" cy="1905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503834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2EDE6"/>
                </a:solidFill>
                <a:latin typeface="Corbel"/>
              </a:rPr>
              <a:t>Generous negative space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513832"/>
            <a:ext cx="5486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140">
                <a:solidFill>
                  <a:srgbClr val="E85D9E"/>
                </a:solidFill>
                <a:latin typeface="Corbel"/>
              </a:rPr>
              <a:t>STRENGTH — </a:t>
            </a:r>
          </a:p>
          <a:p>
            <a:pPr algn="l"/>
            <a:r>
              <a:rPr sz="1100" b="0">
                <a:solidFill>
                  <a:srgbClr val="F2EDE6"/>
                </a:solidFill>
                <a:latin typeface="Corbel"/>
              </a:rPr>
              <a:t>Degrades honestly. Works beautifully with nothing to prove.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897880"/>
            <a:ext cx="5486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140">
                <a:solidFill>
                  <a:srgbClr val="E85D9E"/>
                </a:solidFill>
                <a:latin typeface="Corbel"/>
              </a:rPr>
              <a:t>WATCH — </a:t>
            </a:r>
          </a:p>
          <a:p>
            <a:pPr algn="l"/>
            <a:r>
              <a:rPr sz="1100" b="0">
                <a:solidFill>
                  <a:srgbClr val="F2EDE6"/>
                </a:solidFill>
                <a:latin typeface="Corbel"/>
              </a:rPr>
              <a:t>Coldest of the three. Lives or dies on photographic quality.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spc="120">
                <a:solidFill>
                  <a:srgbClr val="B3A89E"/>
                </a:solidFill>
                <a:latin typeface="Corbel"/>
              </a:rPr>
              <a:t>08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0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3-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0"/>
            <a:ext cx="523951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49440" y="0"/>
            <a:ext cx="5239512" cy="6858000"/>
          </a:xfrm>
          <a:prstGeom prst="rect">
            <a:avLst/>
          </a:prstGeom>
          <a:solidFill>
            <a:srgbClr val="14100E">
              <a:alpha val="17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20">
                <a:solidFill>
                  <a:srgbClr val="E85D9E"/>
                </a:solidFill>
                <a:latin typeface="Corbel"/>
              </a:rPr>
              <a:t>08 — CONCEPT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5669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0" spc="-120">
                <a:solidFill>
                  <a:srgbClr val="F2EDE6"/>
                </a:solidFill>
                <a:latin typeface="Georgia"/>
              </a:rPr>
              <a:t>SHUMI Global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E85D9E"/>
                </a:solidFill>
                <a:latin typeface="Georgia"/>
              </a:rPr>
              <a:t>Geography as structure, not decoration.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5486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B3A89E"/>
                </a:solidFill>
                <a:latin typeface="Corbel"/>
              </a:rPr>
              <a:t>SHUMI as a network. Country becomes metadata on every story and programme, so 'global' is a fact of the architecture rather than a claim in the copy.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895344"/>
            <a:ext cx="118872" cy="1905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37947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2EDE6"/>
                </a:solidFill>
                <a:latin typeface="Corbel"/>
              </a:rPr>
              <a:t>Region and community storytelling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206240"/>
            <a:ext cx="118872" cy="1905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410565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2EDE6"/>
                </a:solidFill>
                <a:latin typeface="Corbel"/>
              </a:rPr>
              <a:t>Filtered programme discovery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517136"/>
            <a:ext cx="118872" cy="1905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44165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2EDE6"/>
                </a:solidFill>
                <a:latin typeface="Corbel"/>
              </a:rPr>
              <a:t>Impact metrics tied to stories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828032"/>
            <a:ext cx="118872" cy="1905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472744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2EDE6"/>
                </a:solidFill>
                <a:latin typeface="Corbel"/>
              </a:rPr>
              <a:t>Location-led navigation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138928"/>
            <a:ext cx="118872" cy="1905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503834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2EDE6"/>
                </a:solidFill>
                <a:latin typeface="Corbel"/>
              </a:rPr>
              <a:t>Dynamic transitions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513832"/>
            <a:ext cx="5486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140">
                <a:solidFill>
                  <a:srgbClr val="E85D9E"/>
                </a:solidFill>
                <a:latin typeface="Corbel"/>
              </a:rPr>
              <a:t>STRENGTH — </a:t>
            </a:r>
          </a:p>
          <a:p>
            <a:pPr algn="l"/>
            <a:r>
              <a:rPr sz="1100" b="0">
                <a:solidFill>
                  <a:srgbClr val="F2EDE6"/>
                </a:solidFill>
                <a:latin typeface="Corbel"/>
              </a:rPr>
              <a:t>Highest ceiling. The only direction that becomes a true platform.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897880"/>
            <a:ext cx="5486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140">
                <a:solidFill>
                  <a:srgbClr val="E85D9E"/>
                </a:solidFill>
                <a:latin typeface="Corbel"/>
              </a:rPr>
              <a:t>WATCH — </a:t>
            </a:r>
          </a:p>
          <a:p>
            <a:pPr algn="l"/>
            <a:r>
              <a:rPr sz="1100" b="0">
                <a:solidFill>
                  <a:srgbClr val="F2EDE6"/>
                </a:solidFill>
                <a:latin typeface="Corbel"/>
              </a:rPr>
              <a:t>Requires the most content. Looks worst when empty.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spc="120">
                <a:solidFill>
                  <a:srgbClr val="B3A89E"/>
                </a:solidFill>
                <a:latin typeface="Corbel"/>
              </a:rPr>
              <a:t>09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2-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0"/>
            <a:ext cx="523951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49440" y="0"/>
            <a:ext cx="5239512" cy="6858000"/>
          </a:xfrm>
          <a:prstGeom prst="rect">
            <a:avLst/>
          </a:prstGeom>
          <a:solidFill>
            <a:srgbClr val="F2EDE6">
              <a:alpha val="17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20">
                <a:solidFill>
                  <a:srgbClr val="A8265C"/>
                </a:solidFill>
                <a:latin typeface="Corbel"/>
              </a:rPr>
              <a:t>09 — CONCEPT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5669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0" spc="-120">
                <a:solidFill>
                  <a:srgbClr val="14100E"/>
                </a:solidFill>
                <a:latin typeface="Georgia"/>
              </a:rPr>
              <a:t>Human Connection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A8265C"/>
                </a:solidFill>
                <a:latin typeface="Georgia"/>
              </a:rPr>
              <a:t>One woman, told properly.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5486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6B6259"/>
                </a:solidFill>
                <a:latin typeface="Corbel"/>
              </a:rPr>
              <a:t>SHUMI as a deeply human platform. Documentary portraits, personal quotes and an intimate visual rhythm — story-first rather than section-first.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895344"/>
            <a:ext cx="118872" cy="19050"/>
          </a:xfrm>
          <a:prstGeom prst="rect">
            <a:avLst/>
          </a:prstGeom>
          <a:solidFill>
            <a:srgbClr val="A82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37947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4100E"/>
                </a:solidFill>
                <a:latin typeface="Corbel"/>
              </a:rPr>
              <a:t>Large documentary portraits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206240"/>
            <a:ext cx="118872" cy="19050"/>
          </a:xfrm>
          <a:prstGeom prst="rect">
            <a:avLst/>
          </a:prstGeom>
          <a:solidFill>
            <a:srgbClr val="A82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410565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4100E"/>
                </a:solidFill>
                <a:latin typeface="Corbel"/>
              </a:rPr>
              <a:t>Personal quotes at scale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517136"/>
            <a:ext cx="118872" cy="19050"/>
          </a:xfrm>
          <a:prstGeom prst="rect">
            <a:avLst/>
          </a:prstGeom>
          <a:solidFill>
            <a:srgbClr val="A82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44165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4100E"/>
                </a:solidFill>
                <a:latin typeface="Corbel"/>
              </a:rPr>
              <a:t>Organic, warm layouts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828032"/>
            <a:ext cx="118872" cy="19050"/>
          </a:xfrm>
          <a:prstGeom prst="rect">
            <a:avLst/>
          </a:prstGeom>
          <a:solidFill>
            <a:srgbClr val="A82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472744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4100E"/>
                </a:solidFill>
                <a:latin typeface="Corbel"/>
              </a:rPr>
              <a:t>Story-first navigation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138928"/>
            <a:ext cx="118872" cy="19050"/>
          </a:xfrm>
          <a:prstGeom prst="rect">
            <a:avLst/>
          </a:prstGeom>
          <a:solidFill>
            <a:srgbClr val="A82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503834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4100E"/>
                </a:solidFill>
                <a:latin typeface="Corbel"/>
              </a:rPr>
              <a:t>Soft, unhurried transitions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513832"/>
            <a:ext cx="5486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140">
                <a:solidFill>
                  <a:srgbClr val="A8265C"/>
                </a:solidFill>
                <a:latin typeface="Corbel"/>
              </a:rPr>
              <a:t>STRENGTH — </a:t>
            </a:r>
          </a:p>
          <a:p>
            <a:pPr algn="l"/>
            <a:r>
              <a:rPr sz="1100" b="0">
                <a:solidFill>
                  <a:srgbClr val="14100E"/>
                </a:solidFill>
                <a:latin typeface="Corbel"/>
              </a:rPr>
              <a:t>Highest warmth and conversion. Best mobile experience.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897880"/>
            <a:ext cx="5486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140">
                <a:solidFill>
                  <a:srgbClr val="A8265C"/>
                </a:solidFill>
                <a:latin typeface="Corbel"/>
              </a:rPr>
              <a:t>WATCH — </a:t>
            </a:r>
          </a:p>
          <a:p>
            <a:pPr algn="l"/>
            <a:r>
              <a:rPr sz="1100" b="0">
                <a:solidFill>
                  <a:srgbClr val="14100E"/>
                </a:solidFill>
                <a:latin typeface="Corbel"/>
              </a:rPr>
              <a:t>Least differentiated. Weakest at expressing 'global'.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spc="120">
                <a:solidFill>
                  <a:srgbClr val="6B6259"/>
                </a:solidFill>
                <a:latin typeface="Corbel"/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20">
                <a:solidFill>
                  <a:srgbClr val="A8265C"/>
                </a:solidFill>
                <a:latin typeface="Corbel"/>
              </a:rPr>
              <a:t>10 —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0" spc="-100">
                <a:solidFill>
                  <a:srgbClr val="14100E"/>
                </a:solidFill>
                <a:latin typeface="Georgia"/>
              </a:rPr>
              <a:t>Scored, honestly.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563623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spc="120">
                <a:solidFill>
                  <a:srgbClr val="A8265C"/>
                </a:solidFill>
                <a:latin typeface="Corbel"/>
              </a:rPr>
              <a:t>Editorial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1563623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spc="120">
                <a:solidFill>
                  <a:srgbClr val="A8265C"/>
                </a:solidFill>
                <a:latin typeface="Corbel"/>
              </a:rPr>
              <a:t>Global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563623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spc="120">
                <a:solidFill>
                  <a:srgbClr val="A8265C"/>
                </a:solidFill>
                <a:latin typeface="Corbel"/>
              </a:rPr>
              <a:t>Human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874519"/>
            <a:ext cx="8092440" cy="306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38527"/>
            <a:ext cx="3108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4100E"/>
                </a:solidFill>
                <a:latin typeface="Corbel"/>
              </a:rPr>
              <a:t>Premium feel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929383"/>
            <a:ext cx="1600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A8265C"/>
                </a:solidFill>
                <a:latin typeface="Corbel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1929383"/>
            <a:ext cx="1600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B6259"/>
                </a:solidFill>
                <a:latin typeface="Corbel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929383"/>
            <a:ext cx="1600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B6259"/>
                </a:solidFill>
                <a:latin typeface="Corbel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244851"/>
            <a:ext cx="3108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4100E"/>
                </a:solidFill>
                <a:latin typeface="Corbel"/>
              </a:rPr>
              <a:t>Global identity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235707"/>
            <a:ext cx="1600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B6259"/>
                </a:solidFill>
                <a:latin typeface="Corbel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2235707"/>
            <a:ext cx="1600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B6259"/>
                </a:solidFill>
                <a:latin typeface="Corbel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235707"/>
            <a:ext cx="1600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A8265C"/>
                </a:solidFill>
                <a:latin typeface="Corbel"/>
              </a:rPr>
              <a:t>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2487167"/>
            <a:ext cx="8092440" cy="306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2551175"/>
            <a:ext cx="3108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4100E"/>
                </a:solidFill>
                <a:latin typeface="Corbel"/>
              </a:rPr>
              <a:t>Warmth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542031"/>
            <a:ext cx="1600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B6259"/>
                </a:solidFill>
                <a:latin typeface="Corbe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2542031"/>
            <a:ext cx="1600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A8265C"/>
                </a:solidFill>
                <a:latin typeface="Corbel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542031"/>
            <a:ext cx="1600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B6259"/>
                </a:solidFill>
                <a:latin typeface="Corbe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2857499"/>
            <a:ext cx="3108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4100E"/>
                </a:solidFill>
                <a:latin typeface="Corbel"/>
              </a:rPr>
              <a:t>Accessibility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2848355"/>
            <a:ext cx="1600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B6259"/>
                </a:solidFill>
                <a:latin typeface="Corbel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2848355"/>
            <a:ext cx="1600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A8265C"/>
                </a:solidFill>
                <a:latin typeface="Corbel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2848355"/>
            <a:ext cx="1600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B6259"/>
                </a:solidFill>
                <a:latin typeface="Corbel"/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3099815"/>
            <a:ext cx="8092440" cy="306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3163823"/>
            <a:ext cx="3108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4100E"/>
                </a:solidFill>
                <a:latin typeface="Corbel"/>
              </a:rPr>
              <a:t>Storytelling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3154679"/>
            <a:ext cx="1600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A8265C"/>
                </a:solidFill>
                <a:latin typeface="Corbel"/>
              </a:rPr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0" y="3154679"/>
            <a:ext cx="1600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B6259"/>
                </a:solidFill>
                <a:latin typeface="Corbel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3154679"/>
            <a:ext cx="1600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B6259"/>
                </a:solidFill>
                <a:latin typeface="Corbel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3470147"/>
            <a:ext cx="3108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4100E"/>
                </a:solidFill>
                <a:latin typeface="Corbel"/>
              </a:rPr>
              <a:t>Event conversion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3461003"/>
            <a:ext cx="1600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B6259"/>
                </a:solidFill>
                <a:latin typeface="Corbel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15000" y="3461003"/>
            <a:ext cx="1600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A8265C"/>
                </a:solidFill>
                <a:latin typeface="Corbel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461003"/>
            <a:ext cx="1600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B6259"/>
                </a:solidFill>
                <a:latin typeface="Corbel"/>
              </a:rPr>
              <a:t>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3712463"/>
            <a:ext cx="8092440" cy="306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3776471"/>
            <a:ext cx="3108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4100E"/>
                </a:solidFill>
                <a:latin typeface="Corbel"/>
              </a:rPr>
              <a:t>Mobile UX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3767327"/>
            <a:ext cx="1600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B6259"/>
                </a:solidFill>
                <a:latin typeface="Corbel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0" y="3767327"/>
            <a:ext cx="1600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A8265C"/>
                </a:solidFill>
                <a:latin typeface="Corbel"/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3767327"/>
            <a:ext cx="1600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B6259"/>
                </a:solidFill>
                <a:latin typeface="Corbel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4082795"/>
            <a:ext cx="3108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4100E"/>
                </a:solidFill>
                <a:latin typeface="Corbel"/>
              </a:rPr>
              <a:t>Scalability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4073651"/>
            <a:ext cx="1600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B6259"/>
                </a:solidFill>
                <a:latin typeface="Corbe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15000" y="4073651"/>
            <a:ext cx="1600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B6259"/>
                </a:solidFill>
                <a:latin typeface="Corbel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4073651"/>
            <a:ext cx="1600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A8265C"/>
                </a:solidFill>
                <a:latin typeface="Corbel"/>
              </a:rPr>
              <a:t>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" y="4325111"/>
            <a:ext cx="8092440" cy="306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" y="4389119"/>
            <a:ext cx="3108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4100E"/>
                </a:solidFill>
                <a:latin typeface="Corbel"/>
              </a:rPr>
              <a:t>Differentiation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0" y="4379975"/>
            <a:ext cx="1600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A8265C"/>
                </a:solidFill>
                <a:latin typeface="Corbel"/>
              </a:rPr>
              <a:t>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15000" y="4379975"/>
            <a:ext cx="1600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B6259"/>
                </a:solidFill>
                <a:latin typeface="Corbel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4379975"/>
            <a:ext cx="1600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B6259"/>
                </a:solidFill>
                <a:latin typeface="Corbel"/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" y="4695443"/>
            <a:ext cx="3108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4100E"/>
                </a:solidFill>
                <a:latin typeface="Corbel"/>
              </a:rPr>
              <a:t>Emotional impact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0" y="4686299"/>
            <a:ext cx="1600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B6259"/>
                </a:solidFill>
                <a:latin typeface="Corbel"/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15000" y="4686299"/>
            <a:ext cx="1600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A8265C"/>
                </a:solidFill>
                <a:latin typeface="Corbel"/>
              </a:rPr>
              <a:t>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0" y="4686299"/>
            <a:ext cx="1600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B6259"/>
                </a:solidFill>
                <a:latin typeface="Corbel"/>
              </a:rPr>
              <a:t>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" y="4937759"/>
            <a:ext cx="8092440" cy="306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2688" y="5001767"/>
            <a:ext cx="3108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4100E"/>
                </a:solidFill>
                <a:latin typeface="Corbel"/>
              </a:rPr>
              <a:t>Long-term potential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0" y="4992623"/>
            <a:ext cx="1600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B6259"/>
                </a:solidFill>
                <a:latin typeface="Corbel"/>
              </a:rPr>
              <a:t>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15000" y="4992623"/>
            <a:ext cx="1600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B6259"/>
                </a:solidFill>
                <a:latin typeface="Corbel"/>
              </a:rPr>
              <a:t>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0" y="4992623"/>
            <a:ext cx="1600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A8265C"/>
                </a:solidFill>
                <a:latin typeface="Corbel"/>
              </a:rPr>
              <a:t>10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2960" y="5244083"/>
            <a:ext cx="8092440" cy="25400"/>
          </a:xfrm>
          <a:prstGeom prst="rect">
            <a:avLst/>
          </a:prstGeom>
          <a:solidFill>
            <a:srgbClr val="14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5353811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100E"/>
                </a:solidFill>
                <a:latin typeface="Corbel"/>
              </a:rPr>
              <a:t>Unweighted total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14800" y="534466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4100E"/>
                </a:solidFill>
                <a:latin typeface="Georgia"/>
              </a:rPr>
              <a:t>82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15000" y="534466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4100E"/>
                </a:solidFill>
                <a:latin typeface="Georgia"/>
              </a:rPr>
              <a:t>84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0" y="534466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4100E"/>
                </a:solidFill>
                <a:latin typeface="Georgia"/>
              </a:rPr>
              <a:t>87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732520" y="1600200"/>
            <a:ext cx="2651760" cy="4206240"/>
          </a:xfrm>
          <a:prstGeom prst="rect">
            <a:avLst/>
          </a:prstGeom>
          <a:solidFill>
            <a:srgbClr val="14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732520" y="1600200"/>
            <a:ext cx="2651760" cy="3810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961120" y="1874519"/>
            <a:ext cx="21945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1000"/>
              </a:spcAft>
            </a:pPr>
            <a:r>
              <a:rPr sz="1000" b="1" spc="180">
                <a:solidFill>
                  <a:srgbClr val="E85D9E"/>
                </a:solidFill>
                <a:latin typeface="Corbel"/>
              </a:rPr>
              <a:t>THE REAL FINDING</a:t>
            </a:r>
          </a:p>
          <a:p>
            <a:pPr algn="l">
              <a:lnSpc>
                <a:spcPct val="132000"/>
              </a:lnSpc>
              <a:spcAft>
                <a:spcPts val="1000"/>
              </a:spcAft>
            </a:pPr>
            <a:r>
              <a:rPr sz="1300" b="0">
                <a:solidFill>
                  <a:srgbClr val="F2EDE6"/>
                </a:solidFill>
                <a:latin typeface="Georgia"/>
              </a:rPr>
              <a:t>Three points across eleven categories is noise.</a:t>
            </a:r>
          </a:p>
          <a:p>
            <a:pPr algn="l">
              <a:lnSpc>
                <a:spcPct val="132000"/>
              </a:lnSpc>
              <a:spcAft>
                <a:spcPts val="1400"/>
              </a:spcAft>
            </a:pPr>
            <a:r>
              <a:rPr sz="1100" b="0">
                <a:solidFill>
                  <a:srgbClr val="B3A89E"/>
                </a:solidFill>
                <a:latin typeface="Corbel"/>
              </a:rPr>
              <a:t>Weighted by what SHUMI needs next, each concept wins decisively — and the other two lose.</a:t>
            </a:r>
          </a:p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100" b="0">
                <a:solidFill>
                  <a:srgbClr val="F2EDE6"/>
                </a:solidFill>
                <a:latin typeface="Corbel"/>
              </a:rPr>
              <a:t>Fill the event  →  Human</a:t>
            </a:r>
          </a:p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100" b="0">
                <a:solidFill>
                  <a:srgbClr val="F2EDE6"/>
                </a:solidFill>
                <a:latin typeface="Corbel"/>
              </a:rPr>
              <a:t>Win credibility  →  Editorial</a:t>
            </a:r>
          </a:p>
          <a:p>
            <a:pPr algn="l">
              <a:lnSpc>
                <a:spcPct val="132000"/>
              </a:lnSpc>
              <a:spcAft>
                <a:spcPts val="1200"/>
              </a:spcAft>
            </a:pPr>
            <a:r>
              <a:rPr sz="1100" b="0">
                <a:solidFill>
                  <a:srgbClr val="F2EDE6"/>
                </a:solidFill>
                <a:latin typeface="Corbel"/>
              </a:rPr>
              <a:t>Build the platform  →  Global</a:t>
            </a:r>
          </a:p>
          <a:p>
            <a:pPr algn="l">
              <a:lnSpc>
                <a:spcPct val="132000"/>
              </a:lnSpc>
            </a:pPr>
            <a:r>
              <a:rPr sz="1100" b="0">
                <a:solidFill>
                  <a:srgbClr val="E85D9E"/>
                </a:solidFill>
                <a:latin typeface="Corbel"/>
              </a:rPr>
              <a:t>So the choice is a strategy decision, not a taste decision.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spc="120">
                <a:solidFill>
                  <a:srgbClr val="6B6259"/>
                </a:solidFill>
                <a:latin typeface="Corbel"/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0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20">
                <a:solidFill>
                  <a:srgbClr val="E85D9E"/>
                </a:solidFill>
                <a:latin typeface="Corbel"/>
              </a:rPr>
              <a:t>11 —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0" b="0" spc="-180">
                <a:solidFill>
                  <a:srgbClr val="F2EDE6"/>
                </a:solidFill>
                <a:latin typeface="Georgia"/>
              </a:rPr>
              <a:t>Editorial × Global Impact.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6949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B3A89E"/>
                </a:solidFill>
                <a:latin typeface="Corbel"/>
              </a:rPr>
              <a:t>Editorial leads because it is the only stance that lets SHUMI look serious today. Global supplies the structure. Human supplies the heart.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794760"/>
            <a:ext cx="3063240" cy="82296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3108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3800" b="0" spc="-100">
                <a:solidFill>
                  <a:srgbClr val="E85D9E"/>
                </a:solidFill>
                <a:latin typeface="Georgia"/>
              </a:rPr>
              <a:t>70%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F2EDE6"/>
                </a:solidFill>
                <a:latin typeface="Georgia"/>
              </a:rPr>
              <a:t>Premium editorial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B3A89E"/>
                </a:solidFill>
                <a:latin typeface="Corbel"/>
              </a:rPr>
              <a:t>Credibility through craft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3794760"/>
            <a:ext cx="3063240" cy="82296"/>
          </a:xfrm>
          <a:prstGeom prst="rect">
            <a:avLst/>
          </a:prstGeom>
          <a:solidFill>
            <a:srgbClr val="F2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400" y="4023360"/>
            <a:ext cx="3108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3800" b="0" spc="-100">
                <a:solidFill>
                  <a:srgbClr val="F2EDE6"/>
                </a:solidFill>
                <a:latin typeface="Georgia"/>
              </a:rPr>
              <a:t>20%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F2EDE6"/>
                </a:solidFill>
                <a:latin typeface="Georgia"/>
              </a:rPr>
              <a:t>Global impact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B3A89E"/>
                </a:solidFill>
                <a:latin typeface="Corbel"/>
              </a:rPr>
              <a:t>Geography as 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3794760"/>
            <a:ext cx="3063240" cy="82296"/>
          </a:xfrm>
          <a:prstGeom prst="rect">
            <a:avLst/>
          </a:prstGeom>
          <a:solidFill>
            <a:srgbClr val="F2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4023360"/>
            <a:ext cx="3108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3800" b="0" spc="-100">
                <a:solidFill>
                  <a:srgbClr val="F2EDE6"/>
                </a:solidFill>
                <a:latin typeface="Georgia"/>
              </a:rPr>
              <a:t>10%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F2EDE6"/>
                </a:solidFill>
                <a:latin typeface="Georgia"/>
              </a:rPr>
              <a:t>Human storytelling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B3A89E"/>
                </a:solidFill>
                <a:latin typeface="Corbel"/>
              </a:rPr>
              <a:t>The emotional centre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064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E85D9E"/>
                </a:solidFill>
                <a:latin typeface="Corbel"/>
              </a:rPr>
              <a:t>What we deliberately leave behind: the content debt. Counters, maps and filters are specified and switched off until SHUMI has something true to put in them.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spc="120">
                <a:solidFill>
                  <a:srgbClr val="B3A89E"/>
                </a:solidFill>
                <a:latin typeface="Corbel"/>
              </a:rPr>
              <a:t>12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20">
                <a:solidFill>
                  <a:srgbClr val="A8265C"/>
                </a:solidFill>
                <a:latin typeface="Corbel"/>
              </a:rPr>
              <a:t>12 — INFORMATION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0" spc="-100">
                <a:solidFill>
                  <a:srgbClr val="14100E"/>
                </a:solidFill>
                <a:latin typeface="Georgia"/>
              </a:rPr>
              <a:t>Built to grow.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74519"/>
            <a:ext cx="1417320" cy="457200"/>
          </a:xfrm>
          <a:prstGeom prst="rect">
            <a:avLst/>
          </a:prstGeom>
          <a:solidFill>
            <a:srgbClr val="14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79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spc="160">
                <a:solidFill>
                  <a:srgbClr val="F2EDE6"/>
                </a:solidFill>
                <a:latin typeface="Corbel"/>
              </a:rPr>
              <a:t>HOME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1499616" y="2331719"/>
            <a:ext cx="19050" cy="384048"/>
          </a:xfrm>
          <a:prstGeom prst="rect">
            <a:avLst/>
          </a:prstGeom>
          <a:solidFill>
            <a:srgbClr val="6B6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743200"/>
            <a:ext cx="1298448" cy="402336"/>
          </a:xfrm>
          <a:prstGeom prst="rect">
            <a:avLst/>
          </a:prstGeom>
          <a:solidFill>
            <a:srgbClr val="4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852928"/>
            <a:ext cx="12984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spc="90">
                <a:solidFill>
                  <a:srgbClr val="F2EDE6"/>
                </a:solidFill>
                <a:latin typeface="Corbel"/>
              </a:rPr>
              <a:t>About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291840"/>
            <a:ext cx="12984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3346704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4100E"/>
                </a:solidFill>
                <a:latin typeface="Corbel"/>
              </a:rPr>
              <a:t>Our Story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621024"/>
            <a:ext cx="12984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675888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4100E"/>
                </a:solidFill>
                <a:latin typeface="Corbel"/>
              </a:rPr>
              <a:t>Mission &amp; Vision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950208"/>
            <a:ext cx="12984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4005072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4100E"/>
                </a:solidFill>
                <a:latin typeface="Corbel"/>
              </a:rPr>
              <a:t>Values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279392"/>
            <a:ext cx="12984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4334256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4100E"/>
                </a:solidFill>
                <a:latin typeface="Corbel"/>
              </a:rPr>
              <a:t>Team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21992" y="2743200"/>
            <a:ext cx="1298448" cy="402336"/>
          </a:xfrm>
          <a:prstGeom prst="rect">
            <a:avLst/>
          </a:prstGeom>
          <a:solidFill>
            <a:srgbClr val="4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21992" y="2852928"/>
            <a:ext cx="12984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spc="90">
                <a:solidFill>
                  <a:srgbClr val="F2EDE6"/>
                </a:solidFill>
                <a:latin typeface="Corbel"/>
              </a:rPr>
              <a:t>Programs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21992" y="3291840"/>
            <a:ext cx="12984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76856" y="3346704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4100E"/>
                </a:solidFill>
                <a:latin typeface="Corbel"/>
              </a:rPr>
              <a:t>All Programs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21992" y="3621024"/>
            <a:ext cx="12984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76856" y="3675888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4100E"/>
                </a:solidFill>
                <a:latin typeface="Corbel"/>
              </a:rPr>
              <a:t>Program Detail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21992" y="3950208"/>
            <a:ext cx="12984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76856" y="4005072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4100E"/>
                </a:solidFill>
                <a:latin typeface="Corbel"/>
              </a:rPr>
              <a:t>Filters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21024" y="2743200"/>
            <a:ext cx="1298448" cy="402336"/>
          </a:xfrm>
          <a:prstGeom prst="rect">
            <a:avLst/>
          </a:prstGeom>
          <a:solidFill>
            <a:srgbClr val="4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21024" y="2852928"/>
            <a:ext cx="12984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spc="90">
                <a:solidFill>
                  <a:srgbClr val="F2EDE6"/>
                </a:solidFill>
                <a:latin typeface="Corbel"/>
              </a:rPr>
              <a:t>Stories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21024" y="3291840"/>
            <a:ext cx="12984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5888" y="3346704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4100E"/>
                </a:solidFill>
                <a:latin typeface="Corbel"/>
              </a:rPr>
              <a:t>Women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21024" y="3621024"/>
            <a:ext cx="12984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75888" y="3675888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4100E"/>
                </a:solidFill>
                <a:latin typeface="Corbel"/>
              </a:rPr>
              <a:t>Communities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21024" y="3950208"/>
            <a:ext cx="12984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75888" y="4005072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4100E"/>
                </a:solidFill>
                <a:latin typeface="Corbel"/>
              </a:rPr>
              <a:t>Impact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0056" y="2743200"/>
            <a:ext cx="1298448" cy="402336"/>
          </a:xfrm>
          <a:prstGeom prst="rect">
            <a:avLst/>
          </a:prstGeom>
          <a:solidFill>
            <a:srgbClr val="4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0056" y="2852928"/>
            <a:ext cx="12984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spc="90">
                <a:solidFill>
                  <a:srgbClr val="F2EDE6"/>
                </a:solidFill>
                <a:latin typeface="Corbel"/>
              </a:rPr>
              <a:t>Global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0056" y="3291840"/>
            <a:ext cx="12984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74920" y="3346704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4100E"/>
                </a:solidFill>
                <a:latin typeface="Corbel"/>
              </a:rPr>
              <a:t>Regions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0056" y="3621024"/>
            <a:ext cx="12984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74920" y="3675888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4100E"/>
                </a:solidFill>
                <a:latin typeface="Corbel"/>
              </a:rPr>
              <a:t>Communities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0056" y="3950208"/>
            <a:ext cx="12984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4005072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4100E"/>
                </a:solidFill>
                <a:latin typeface="Corbel"/>
              </a:rPr>
              <a:t>Global Impact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19088" y="2743200"/>
            <a:ext cx="1298448" cy="402336"/>
          </a:xfrm>
          <a:prstGeom prst="rect">
            <a:avLst/>
          </a:prstGeom>
          <a:solidFill>
            <a:srgbClr val="4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19088" y="2852928"/>
            <a:ext cx="12984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spc="90">
                <a:solidFill>
                  <a:srgbClr val="F2EDE6"/>
                </a:solidFill>
                <a:latin typeface="Corbel"/>
              </a:rPr>
              <a:t>Events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19088" y="3291840"/>
            <a:ext cx="12984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73952" y="3346704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4100E"/>
                </a:solidFill>
                <a:latin typeface="Corbel"/>
              </a:rPr>
              <a:t>Upcoming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19088" y="3621024"/>
            <a:ext cx="12984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73952" y="3675888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4100E"/>
                </a:solidFill>
                <a:latin typeface="Corbel"/>
              </a:rPr>
              <a:t>Event Detail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19088" y="3950208"/>
            <a:ext cx="12984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73952" y="4005072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4100E"/>
                </a:solidFill>
                <a:latin typeface="Corbel"/>
              </a:rPr>
              <a:t>Past Events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18120" y="2743200"/>
            <a:ext cx="1298448" cy="402336"/>
          </a:xfrm>
          <a:prstGeom prst="rect">
            <a:avLst/>
          </a:prstGeom>
          <a:solidFill>
            <a:srgbClr val="4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18120" y="2852928"/>
            <a:ext cx="12984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spc="90">
                <a:solidFill>
                  <a:srgbClr val="F2EDE6"/>
                </a:solidFill>
                <a:latin typeface="Corbel"/>
              </a:rPr>
              <a:t>Resources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18120" y="3291840"/>
            <a:ext cx="12984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72984" y="3346704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4100E"/>
                </a:solidFill>
                <a:latin typeface="Corbel"/>
              </a:rPr>
              <a:t>Articles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18120" y="3621024"/>
            <a:ext cx="12984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872984" y="3675888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4100E"/>
                </a:solidFill>
                <a:latin typeface="Corbel"/>
              </a:rPr>
              <a:t>Reports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18120" y="3950208"/>
            <a:ext cx="12984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872984" y="4005072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4100E"/>
                </a:solidFill>
                <a:latin typeface="Corbel"/>
              </a:rPr>
              <a:t>Guides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18120" y="4279392"/>
            <a:ext cx="12984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72984" y="4334256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4100E"/>
                </a:solidFill>
                <a:latin typeface="Corbel"/>
              </a:rPr>
              <a:t>Media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217152" y="2743200"/>
            <a:ext cx="1298448" cy="402336"/>
          </a:xfrm>
          <a:prstGeom prst="rect">
            <a:avLst/>
          </a:prstGeom>
          <a:solidFill>
            <a:srgbClr val="4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217152" y="2852928"/>
            <a:ext cx="12984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spc="90">
                <a:solidFill>
                  <a:srgbClr val="F2EDE6"/>
                </a:solidFill>
                <a:latin typeface="Corbel"/>
              </a:rPr>
              <a:t>Get Involved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217152" y="3291840"/>
            <a:ext cx="12984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72016" y="3346704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4100E"/>
                </a:solidFill>
                <a:latin typeface="Corbel"/>
              </a:rPr>
              <a:t>Donate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217152" y="3621024"/>
            <a:ext cx="12984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272016" y="3675888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4100E"/>
                </a:solidFill>
                <a:latin typeface="Corbel"/>
              </a:rPr>
              <a:t>Partner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217152" y="3950208"/>
            <a:ext cx="12984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272016" y="4005072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4100E"/>
                </a:solidFill>
                <a:latin typeface="Corbel"/>
              </a:rPr>
              <a:t>Volunteer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217152" y="4279392"/>
            <a:ext cx="12984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272016" y="4334256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4100E"/>
                </a:solidFill>
                <a:latin typeface="Corbel"/>
              </a:rPr>
              <a:t>Participate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616184" y="2743200"/>
            <a:ext cx="1298448" cy="402336"/>
          </a:xfrm>
          <a:prstGeom prst="rect">
            <a:avLst/>
          </a:prstGeom>
          <a:solidFill>
            <a:srgbClr val="4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616184" y="2852928"/>
            <a:ext cx="12984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spc="90">
                <a:solidFill>
                  <a:srgbClr val="F2EDE6"/>
                </a:solidFill>
                <a:latin typeface="Corbel"/>
              </a:rPr>
              <a:t>Contact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616184" y="3291840"/>
            <a:ext cx="12984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671048" y="3346704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4100E"/>
                </a:solidFill>
                <a:latin typeface="Corbel"/>
              </a:rPr>
              <a:t>General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616184" y="3621024"/>
            <a:ext cx="12984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671048" y="3675888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4100E"/>
                </a:solidFill>
                <a:latin typeface="Corbel"/>
              </a:rPr>
              <a:t>Service inquiries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22960" y="5074920"/>
            <a:ext cx="10543032" cy="566928"/>
          </a:xfrm>
          <a:prstGeom prst="rect">
            <a:avLst/>
          </a:prstGeom>
          <a:solidFill>
            <a:srgbClr val="14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51560" y="523036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spc="160">
                <a:solidFill>
                  <a:srgbClr val="E85D9E"/>
                </a:solidFill>
                <a:latin typeface="Corbel"/>
              </a:rPr>
              <a:t>GROWTH SLOTS — </a:t>
            </a:r>
          </a:p>
          <a:p>
            <a:pPr algn="l"/>
            <a:r>
              <a:rPr sz="1050" b="0">
                <a:solidFill>
                  <a:srgbClr val="F2EDE6"/>
                </a:solidFill>
                <a:latin typeface="Corbel"/>
              </a:rPr>
              <a:t>Membership · Chapters · Regional hubs · Speakers · Vendors · Directory · Mentorship · Grants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259"/>
                </a:solidFill>
                <a:latin typeface="Corbel"/>
              </a:rPr>
              <a:t>Each maps onto a section that already exists. Adding one never forces a navigation redesign.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spc="120">
                <a:solidFill>
                  <a:srgbClr val="6B6259"/>
                </a:solidFill>
                <a:latin typeface="Corbel"/>
              </a:rPr>
              <a:t>13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0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20">
                <a:solidFill>
                  <a:srgbClr val="E85D9E"/>
                </a:solidFill>
                <a:latin typeface="Corbel"/>
              </a:rPr>
              <a:t>13 — HOMEPAGE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spc="-90">
                <a:solidFill>
                  <a:srgbClr val="F2EDE6"/>
                </a:solidFill>
                <a:latin typeface="Georgia"/>
              </a:rPr>
              <a:t>A journey, not a stack of sections.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286000"/>
            <a:ext cx="786384" cy="137160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767328"/>
            <a:ext cx="78638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spc="100">
                <a:solidFill>
                  <a:srgbClr val="B3A89E"/>
                </a:solidFill>
                <a:latin typeface="Corbe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041648"/>
            <a:ext cx="11155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F2EDE6"/>
                </a:solidFill>
                <a:latin typeface="Corbel"/>
              </a:rPr>
              <a:t>Hero</a:t>
            </a:r>
          </a:p>
        </p:txBody>
      </p:sp>
      <p:sp>
        <p:nvSpPr>
          <p:cNvPr id="7" name="Rectangle 6"/>
          <p:cNvSpPr/>
          <p:nvPr/>
        </p:nvSpPr>
        <p:spPr>
          <a:xfrm>
            <a:off x="1709928" y="2788920"/>
            <a:ext cx="786384" cy="868680"/>
          </a:xfrm>
          <a:prstGeom prst="rect">
            <a:avLst/>
          </a:prstGeom>
          <a:solidFill>
            <a:srgbClr val="4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09928" y="3767328"/>
            <a:ext cx="78638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spc="100">
                <a:solidFill>
                  <a:srgbClr val="B3A89E"/>
                </a:solidFill>
                <a:latin typeface="Corbe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5336" y="4041648"/>
            <a:ext cx="11155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F2EDE6"/>
                </a:solidFill>
                <a:latin typeface="Corbel"/>
              </a:rPr>
              <a:t>Introduction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96896" y="2286000"/>
            <a:ext cx="786384" cy="137160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96896" y="3767328"/>
            <a:ext cx="78638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spc="100">
                <a:solidFill>
                  <a:srgbClr val="B3A89E"/>
                </a:solidFill>
                <a:latin typeface="Corbel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2304" y="4041648"/>
            <a:ext cx="11155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F2EDE6"/>
                </a:solidFill>
                <a:latin typeface="Corbel"/>
              </a:rPr>
              <a:t>Global impact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83864" y="2286000"/>
            <a:ext cx="786384" cy="137160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3864" y="3767328"/>
            <a:ext cx="78638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spc="100">
                <a:solidFill>
                  <a:srgbClr val="B3A89E"/>
                </a:solidFill>
                <a:latin typeface="Corbel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9272" y="4041648"/>
            <a:ext cx="11155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F2EDE6"/>
                </a:solidFill>
                <a:latin typeface="Corbel"/>
              </a:rPr>
              <a:t>Stories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70832" y="2788920"/>
            <a:ext cx="786384" cy="868680"/>
          </a:xfrm>
          <a:prstGeom prst="rect">
            <a:avLst/>
          </a:prstGeom>
          <a:solidFill>
            <a:srgbClr val="4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2" y="3767328"/>
            <a:ext cx="78638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spc="100">
                <a:solidFill>
                  <a:srgbClr val="B3A89E"/>
                </a:solidFill>
                <a:latin typeface="Corbel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4041648"/>
            <a:ext cx="11155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F2EDE6"/>
                </a:solidFill>
                <a:latin typeface="Corbel"/>
              </a:rPr>
              <a:t>Programs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57800" y="2788920"/>
            <a:ext cx="786384" cy="868680"/>
          </a:xfrm>
          <a:prstGeom prst="rect">
            <a:avLst/>
          </a:prstGeom>
          <a:solidFill>
            <a:srgbClr val="4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7800" y="3767328"/>
            <a:ext cx="78638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spc="100">
                <a:solidFill>
                  <a:srgbClr val="B3A89E"/>
                </a:solidFill>
                <a:latin typeface="Corbel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3208" y="4041648"/>
            <a:ext cx="11155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F2EDE6"/>
                </a:solidFill>
                <a:latin typeface="Corbel"/>
              </a:rPr>
              <a:t>Global connection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2286000"/>
            <a:ext cx="786384" cy="137160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44768" y="3767328"/>
            <a:ext cx="78638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spc="100">
                <a:solidFill>
                  <a:srgbClr val="B3A89E"/>
                </a:solidFill>
                <a:latin typeface="Corbel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0176" y="4041648"/>
            <a:ext cx="11155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F2EDE6"/>
                </a:solidFill>
                <a:latin typeface="Corbel"/>
              </a:rPr>
              <a:t>Events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31736" y="2788920"/>
            <a:ext cx="786384" cy="868680"/>
          </a:xfrm>
          <a:prstGeom prst="rect">
            <a:avLst/>
          </a:prstGeom>
          <a:solidFill>
            <a:srgbClr val="4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31736" y="3767328"/>
            <a:ext cx="78638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spc="100">
                <a:solidFill>
                  <a:srgbClr val="B3A89E"/>
                </a:solidFill>
                <a:latin typeface="Corbel"/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67144" y="4041648"/>
            <a:ext cx="11155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F2EDE6"/>
                </a:solidFill>
                <a:latin typeface="Corbel"/>
              </a:rPr>
              <a:t>Resources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18704" y="2788920"/>
            <a:ext cx="786384" cy="868680"/>
          </a:xfrm>
          <a:prstGeom prst="rect">
            <a:avLst/>
          </a:prstGeom>
          <a:solidFill>
            <a:srgbClr val="4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18704" y="3767328"/>
            <a:ext cx="78638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spc="100">
                <a:solidFill>
                  <a:srgbClr val="B3A89E"/>
                </a:solidFill>
                <a:latin typeface="Corbel"/>
              </a:rP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54112" y="4041648"/>
            <a:ext cx="11155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F2EDE6"/>
                </a:solidFill>
                <a:latin typeface="Corbel"/>
              </a:rPr>
              <a:t>Partners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05672" y="2788920"/>
            <a:ext cx="786384" cy="868680"/>
          </a:xfrm>
          <a:prstGeom prst="rect">
            <a:avLst/>
          </a:prstGeom>
          <a:solidFill>
            <a:srgbClr val="4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05672" y="3767328"/>
            <a:ext cx="78638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spc="100">
                <a:solidFill>
                  <a:srgbClr val="B3A89E"/>
                </a:solidFill>
                <a:latin typeface="Corbel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4041648"/>
            <a:ext cx="11155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F2EDE6"/>
                </a:solidFill>
                <a:latin typeface="Corbel"/>
              </a:rPr>
              <a:t>Get involved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92640" y="2788920"/>
            <a:ext cx="786384" cy="868680"/>
          </a:xfrm>
          <a:prstGeom prst="rect">
            <a:avLst/>
          </a:prstGeom>
          <a:solidFill>
            <a:srgbClr val="4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92640" y="3767328"/>
            <a:ext cx="78638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spc="100">
                <a:solidFill>
                  <a:srgbClr val="B3A89E"/>
                </a:solidFill>
                <a:latin typeface="Corbel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28048" y="4041648"/>
            <a:ext cx="11155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F2EDE6"/>
                </a:solidFill>
                <a:latin typeface="Corbel"/>
              </a:rPr>
              <a:t>Newsletter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579608" y="2788920"/>
            <a:ext cx="786384" cy="868680"/>
          </a:xfrm>
          <a:prstGeom prst="rect">
            <a:avLst/>
          </a:prstGeom>
          <a:solidFill>
            <a:srgbClr val="4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79608" y="3767328"/>
            <a:ext cx="78638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spc="100">
                <a:solidFill>
                  <a:srgbClr val="B3A89E"/>
                </a:solidFill>
                <a:latin typeface="Corbel"/>
              </a:rP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15016" y="4041648"/>
            <a:ext cx="11155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F2EDE6"/>
                </a:solidFill>
                <a:latin typeface="Corbel"/>
              </a:rPr>
              <a:t>Footer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4892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E85D9E"/>
                </a:solidFill>
                <a:latin typeface="Corbel"/>
              </a:rPr>
              <a:t>Highlighted: the four beats that carry the argument.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" y="5440680"/>
            <a:ext cx="10543032" cy="868680"/>
          </a:xfrm>
          <a:prstGeom prst="rect">
            <a:avLst/>
          </a:prstGeom>
          <a:solidFill>
            <a:srgbClr val="4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623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 spc="160">
                <a:solidFill>
                  <a:srgbClr val="E85D9E"/>
                </a:solidFill>
                <a:latin typeface="Corbel"/>
              </a:rPr>
              <a:t>THE TRANSITION RULE</a:t>
            </a:r>
          </a:p>
          <a:p>
            <a:pPr algn="l"/>
            <a:r>
              <a:rPr sz="1150" b="0">
                <a:solidFill>
                  <a:srgbClr val="F2EDE6"/>
                </a:solidFill>
                <a:latin typeface="Corbel"/>
              </a:rPr>
              <a:t>Consecutive sections never share a ground colour or a layout shape. That rhythm is what stops twelve sections reading as twelve boxes.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spc="120">
                <a:solidFill>
                  <a:srgbClr val="B3A89E"/>
                </a:solidFill>
                <a:latin typeface="Corbel"/>
              </a:rPr>
              <a:t>14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0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3_homepage_hero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00E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7863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4000" b="0" spc="-110">
                <a:solidFill>
                  <a:srgbClr val="F2EDE6"/>
                </a:solidFill>
                <a:latin typeface="Georgia"/>
              </a:rPr>
              <a:t>When women move forward,</a:t>
            </a:r>
          </a:p>
          <a:p>
            <a:pPr algn="l">
              <a:lnSpc>
                <a:spcPct val="102000"/>
              </a:lnSpc>
            </a:pPr>
            <a:r>
              <a:rPr sz="4000" b="0" spc="-110">
                <a:solidFill>
                  <a:srgbClr val="F2EDE6"/>
                </a:solidFill>
                <a:latin typeface="Georgia"/>
              </a:rPr>
              <a:t>the world moves with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5669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EDE6"/>
                </a:solidFill>
                <a:latin typeface="Corbel"/>
              </a:rPr>
              <a:t>SHUMI connects women across countries and generations.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572000"/>
            <a:ext cx="1828800" cy="512064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72744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spc="140">
                <a:solidFill>
                  <a:srgbClr val="14100E"/>
                </a:solidFill>
                <a:latin typeface="Corbel"/>
              </a:rPr>
              <a:t>EXPLORE SHUMI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360" y="4572000"/>
            <a:ext cx="1828800" cy="512064"/>
          </a:xfrm>
          <a:prstGeom prst="rect">
            <a:avLst/>
          </a:prstGeom>
          <a:solidFill>
            <a:srgbClr val="14100E"/>
          </a:solidFill>
          <a:ln w="12700">
            <a:solidFill>
              <a:srgbClr val="F2E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472744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spc="140">
                <a:solidFill>
                  <a:srgbClr val="F2EDE6"/>
                </a:solidFill>
                <a:latin typeface="Corbel"/>
              </a:rPr>
              <a:t>MEET THE WOMEN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777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20">
                <a:solidFill>
                  <a:srgbClr val="E85D9E"/>
                </a:solidFill>
                <a:latin typeface="Corbel"/>
              </a:rPr>
              <a:t>14 — HERO EXPERIENCE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75320" y="5230368"/>
            <a:ext cx="3090672" cy="932688"/>
          </a:xfrm>
          <a:prstGeom prst="rect">
            <a:avLst/>
          </a:prstGeom>
          <a:solidFill>
            <a:srgbClr val="14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75320" y="5230368"/>
            <a:ext cx="3090672" cy="2540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5413248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F2EDE6"/>
                </a:solidFill>
                <a:latin typeface="Corbel"/>
              </a:rPr>
              <a:t>Composition briefed with the headline in mind — the type never needs a scrim to be legible.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spc="120">
                <a:solidFill>
                  <a:srgbClr val="6B6259"/>
                </a:solidFill>
                <a:latin typeface="Corbel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  <mc:AlternateContent xmlns:mc="http://schemas.openxmlformats.org/markup-compatibility/2006" xmlns:p14="http://schemas.microsoft.com/office/powerpoint/2010/main"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1-gro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93776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0" y="9144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20">
                <a:solidFill>
                  <a:srgbClr val="A8265C"/>
                </a:solidFill>
                <a:latin typeface="Corbel"/>
              </a:rPr>
              <a:t>15 —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1371600"/>
            <a:ext cx="566928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4000" b="0" spc="-100">
                <a:solidFill>
                  <a:srgbClr val="14100E"/>
                </a:solidFill>
                <a:latin typeface="Georgia"/>
              </a:rPr>
              <a:t>A manifesto.</a:t>
            </a:r>
          </a:p>
          <a:p>
            <a:pPr algn="l">
              <a:lnSpc>
                <a:spcPct val="100000"/>
              </a:lnSpc>
            </a:pPr>
            <a:r>
              <a:rPr sz="4000" b="0" spc="-100">
                <a:solidFill>
                  <a:srgbClr val="4A1228"/>
                </a:solidFill>
                <a:latin typeface="Georgia"/>
              </a:rPr>
              <a:t>Not a paragraph.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3337560"/>
            <a:ext cx="5394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6B6259"/>
                </a:solidFill>
                <a:latin typeface="Corbel"/>
              </a:rPr>
              <a:t>The introduction is set as a large typographic statement, broken across lines and revealed as the visitor arrives. Short, declarative, in SHUMI's own voice.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0" y="4617720"/>
            <a:ext cx="539496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4617720"/>
            <a:ext cx="5394960" cy="38100"/>
          </a:xfrm>
          <a:prstGeom prst="rect">
            <a:avLst/>
          </a:prstGeom>
          <a:solidFill>
            <a:srgbClr val="A82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4864608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b="0">
                <a:solidFill>
                  <a:srgbClr val="14100E"/>
                </a:solidFill>
                <a:latin typeface="Georgia"/>
              </a:rPr>
              <a:t>“[SHUMI'S OWN WORDS — 25–40 words, to be written with SHUMI]”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6259"/>
                </a:solidFill>
                <a:latin typeface="Corbel"/>
              </a:rPr>
              <a:t>Never fabricated. This slot stays visibly empty until SHUMI writes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spc="120">
                <a:solidFill>
                  <a:srgbClr val="6B6259"/>
                </a:solidFill>
                <a:latin typeface="Corbel"/>
              </a:rPr>
              <a:t>16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0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4_global_impact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00E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20">
                <a:solidFill>
                  <a:srgbClr val="E85D9E"/>
                </a:solidFill>
                <a:latin typeface="Corbel"/>
              </a:rPr>
              <a:t>16 — IMPACT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spc="-90">
                <a:solidFill>
                  <a:srgbClr val="F2EDE6"/>
                </a:solidFill>
                <a:latin typeface="Georgia"/>
              </a:rPr>
              <a:t>A number that hands you a person.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2468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200" b="0" spc="-120">
                <a:solidFill>
                  <a:srgbClr val="E85D9E"/>
                </a:solidFill>
                <a:latin typeface="Georgia"/>
              </a:rPr>
              <a:t>XX,XXX</a:t>
            </a:r>
          </a:p>
          <a:p>
            <a:pPr algn="l"/>
            <a:r>
              <a:rPr sz="1100" b="0" spc="80">
                <a:solidFill>
                  <a:srgbClr val="F2EDE6"/>
                </a:solidFill>
                <a:latin typeface="Corbel"/>
              </a:rPr>
              <a:t>Women reached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148840"/>
            <a:ext cx="2468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200" b="0" spc="-120">
                <a:solidFill>
                  <a:srgbClr val="E85D9E"/>
                </a:solidFill>
                <a:latin typeface="Georgia"/>
              </a:rPr>
              <a:t>XX</a:t>
            </a:r>
          </a:p>
          <a:p>
            <a:pPr algn="l"/>
            <a:r>
              <a:rPr sz="1100" b="0" spc="80">
                <a:solidFill>
                  <a:srgbClr val="F2EDE6"/>
                </a:solidFill>
                <a:latin typeface="Corbel"/>
              </a:rPr>
              <a:t>Communities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148840"/>
            <a:ext cx="2468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200" b="0" spc="-120">
                <a:solidFill>
                  <a:srgbClr val="E85D9E"/>
                </a:solidFill>
                <a:latin typeface="Georgia"/>
              </a:rPr>
              <a:t>XX</a:t>
            </a:r>
          </a:p>
          <a:p>
            <a:pPr algn="l"/>
            <a:r>
              <a:rPr sz="1100" b="0" spc="80">
                <a:solidFill>
                  <a:srgbClr val="F2EDE6"/>
                </a:solidFill>
                <a:latin typeface="Corbel"/>
              </a:rPr>
              <a:t>Countries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2148840"/>
            <a:ext cx="2468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200" b="0" spc="-120">
                <a:solidFill>
                  <a:srgbClr val="E85D9E"/>
                </a:solidFill>
                <a:latin typeface="Georgia"/>
              </a:rPr>
              <a:t>XX</a:t>
            </a:r>
          </a:p>
          <a:p>
            <a:pPr algn="l"/>
            <a:r>
              <a:rPr sz="1100" b="0" spc="80">
                <a:solidFill>
                  <a:srgbClr val="F2EDE6"/>
                </a:solidFill>
                <a:latin typeface="Corbel"/>
              </a:rPr>
              <a:t>Programmes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429000"/>
            <a:ext cx="10543032" cy="12700"/>
          </a:xfrm>
          <a:prstGeom prst="rect">
            <a:avLst/>
          </a:prstGeom>
          <a:solidFill>
            <a:srgbClr val="B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657600"/>
            <a:ext cx="51206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700" b="0">
                <a:solidFill>
                  <a:srgbClr val="F2EDE6"/>
                </a:solidFill>
                <a:latin typeface="Georgia"/>
              </a:rPr>
              <a:t>Then the chain continues.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B3A89E"/>
                </a:solidFill>
                <a:latin typeface="Corbel"/>
              </a:rPr>
              <a:t>A statistic that hands straight to one woman is worth more than four statistics in tiles. It also degrades gracefully — with the number still a placeholder, her story alone carries the section.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977639"/>
            <a:ext cx="1051560" cy="502920"/>
          </a:xfrm>
          <a:prstGeom prst="rect">
            <a:avLst/>
          </a:prstGeom>
          <a:solidFill>
            <a:srgbClr val="14100E"/>
          </a:solidFill>
          <a:ln w="12700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4114800"/>
            <a:ext cx="978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1" spc="60">
                <a:solidFill>
                  <a:srgbClr val="F2EDE6"/>
                </a:solidFill>
                <a:latin typeface="Corbel"/>
              </a:rPr>
              <a:t>XX,XXX WOMEN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4087368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3A89E"/>
                </a:solidFill>
                <a:latin typeface="Corbel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08392" y="3977639"/>
            <a:ext cx="1051560" cy="502920"/>
          </a:xfrm>
          <a:prstGeom prst="rect">
            <a:avLst/>
          </a:prstGeom>
          <a:solidFill>
            <a:srgbClr val="14100E"/>
          </a:solidFill>
          <a:ln w="12700">
            <a:solidFill>
              <a:srgbClr val="E85D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4968" y="4114800"/>
            <a:ext cx="978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1" spc="60">
                <a:solidFill>
                  <a:srgbClr val="E85D9E"/>
                </a:solidFill>
                <a:latin typeface="Corbel"/>
              </a:rPr>
              <a:t>ONE WOMAN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9952" y="4087368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3A89E"/>
                </a:solidFill>
                <a:latin typeface="Corbel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15984" y="3977639"/>
            <a:ext cx="1051560" cy="502920"/>
          </a:xfrm>
          <a:prstGeom prst="rect">
            <a:avLst/>
          </a:prstGeom>
          <a:solidFill>
            <a:srgbClr val="14100E"/>
          </a:solidFill>
          <a:ln w="12700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4114800"/>
            <a:ext cx="978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1" spc="60">
                <a:solidFill>
                  <a:srgbClr val="F2EDE6"/>
                </a:solidFill>
                <a:latin typeface="Corbel"/>
              </a:rPr>
              <a:t>HER COMMUNITY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67544" y="4087368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3A89E"/>
                </a:solidFill>
                <a:latin typeface="Corbel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323576" y="3977639"/>
            <a:ext cx="1051560" cy="502920"/>
          </a:xfrm>
          <a:prstGeom prst="rect">
            <a:avLst/>
          </a:prstGeom>
          <a:solidFill>
            <a:srgbClr val="14100E"/>
          </a:solidFill>
          <a:ln w="12700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60152" y="4114800"/>
            <a:ext cx="978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1" spc="60">
                <a:solidFill>
                  <a:srgbClr val="F2EDE6"/>
                </a:solidFill>
                <a:latin typeface="Corbel"/>
              </a:rPr>
              <a:t>THE WORLD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5669280"/>
            <a:ext cx="10543032" cy="566928"/>
          </a:xfrm>
          <a:prstGeom prst="rect">
            <a:avLst/>
          </a:prstGeom>
          <a:solidFill>
            <a:srgbClr val="4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8338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spc="150">
                <a:solidFill>
                  <a:srgbClr val="E85D9E"/>
                </a:solidFill>
                <a:latin typeface="Corbel"/>
              </a:rPr>
              <a:t>ALL FIGURES ARE PLACEHOLDERS. </a:t>
            </a:r>
          </a:p>
          <a:p>
            <a:pPr algn="l"/>
            <a:r>
              <a:rPr sz="1050" b="0">
                <a:solidFill>
                  <a:srgbClr val="F2EDE6"/>
                </a:solidFill>
                <a:latin typeface="Corbel"/>
              </a:rPr>
              <a:t>No SHUMI statistic has been invented. These slots stay visibly empty until real numbers exist.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spc="120">
                <a:solidFill>
                  <a:srgbClr val="B3A89E"/>
                </a:solidFill>
                <a:latin typeface="Corbel"/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  <mc:AlternateContent xmlns:mc="http://schemas.openxmlformats.org/markup-compatibility/2006" xmlns:p14="http://schemas.microsoft.com/office/powerpoint/2010/main"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20">
                <a:solidFill>
                  <a:srgbClr val="A8265C"/>
                </a:solidFill>
                <a:latin typeface="Corbel"/>
              </a:rPr>
              <a:t>17 — GLOBAL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spc="-90">
                <a:solidFill>
                  <a:srgbClr val="14100E"/>
                </a:solidFill>
                <a:latin typeface="Georgia"/>
              </a:rPr>
              <a:t>Explorable. Not a spinning globe.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965960"/>
            <a:ext cx="1572768" cy="475488"/>
          </a:xfrm>
          <a:prstGeom prst="rect">
            <a:avLst/>
          </a:prstGeom>
          <a:solidFill>
            <a:srgbClr val="4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5727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spc="120">
                <a:solidFill>
                  <a:srgbClr val="F2EDE6"/>
                </a:solidFill>
                <a:latin typeface="Corbel"/>
              </a:rPr>
              <a:t>WORLD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5728" y="2084831"/>
            <a:ext cx="219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6B6259"/>
                </a:solidFill>
                <a:latin typeface="Corbel"/>
              </a:rPr>
              <a:t>›</a:t>
            </a:r>
          </a:p>
        </p:txBody>
      </p:sp>
      <p:sp>
        <p:nvSpPr>
          <p:cNvPr id="7" name="Rectangle 6"/>
          <p:cNvSpPr/>
          <p:nvPr/>
        </p:nvSpPr>
        <p:spPr>
          <a:xfrm>
            <a:off x="2615184" y="1965960"/>
            <a:ext cx="1572768" cy="475488"/>
          </a:xfrm>
          <a:prstGeom prst="rect">
            <a:avLst/>
          </a:prstGeom>
          <a:solidFill>
            <a:srgbClr val="4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15184" y="2103120"/>
            <a:ext cx="15727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spc="120">
                <a:solidFill>
                  <a:srgbClr val="F2EDE6"/>
                </a:solidFill>
                <a:latin typeface="Corbel"/>
              </a:rPr>
              <a:t>REGION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87952" y="2084831"/>
            <a:ext cx="219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6B6259"/>
                </a:solidFill>
                <a:latin typeface="Corbel"/>
              </a:rPr>
              <a:t>›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7408" y="1965960"/>
            <a:ext cx="1572768" cy="475488"/>
          </a:xfrm>
          <a:prstGeom prst="rect">
            <a:avLst/>
          </a:prstGeom>
          <a:solidFill>
            <a:srgbClr val="4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8" y="2103120"/>
            <a:ext cx="15727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spc="120">
                <a:solidFill>
                  <a:srgbClr val="F2EDE6"/>
                </a:solidFill>
                <a:latin typeface="Corbel"/>
              </a:rPr>
              <a:t>COMMUNITY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0176" y="2084831"/>
            <a:ext cx="219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6B6259"/>
                </a:solidFill>
                <a:latin typeface="Corbel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965960"/>
            <a:ext cx="1572768" cy="475488"/>
          </a:xfrm>
          <a:prstGeom prst="rect">
            <a:avLst/>
          </a:prstGeom>
          <a:solidFill>
            <a:srgbClr val="A82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9632" y="2103120"/>
            <a:ext cx="15727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spc="120">
                <a:solidFill>
                  <a:srgbClr val="F2EDE6"/>
                </a:solidFill>
                <a:latin typeface="Corbel"/>
              </a:rPr>
              <a:t>PROGRAM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084831"/>
            <a:ext cx="219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6B6259"/>
                </a:solidFill>
                <a:latin typeface="Corbel"/>
              </a:rPr>
              <a:t>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91856" y="1965960"/>
            <a:ext cx="1572768" cy="475488"/>
          </a:xfrm>
          <a:prstGeom prst="rect">
            <a:avLst/>
          </a:prstGeom>
          <a:solidFill>
            <a:srgbClr val="A82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91856" y="2103120"/>
            <a:ext cx="15727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spc="120">
                <a:solidFill>
                  <a:srgbClr val="F2EDE6"/>
                </a:solidFill>
                <a:latin typeface="Corbel"/>
              </a:rPr>
              <a:t>WOMAN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624" y="2084831"/>
            <a:ext cx="219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6B6259"/>
                </a:solidFill>
                <a:latin typeface="Corbel"/>
              </a:rPr>
              <a:t>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84080" y="1965960"/>
            <a:ext cx="1572768" cy="475488"/>
          </a:xfrm>
          <a:prstGeom prst="rect">
            <a:avLst/>
          </a:prstGeom>
          <a:solidFill>
            <a:srgbClr val="A82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2103120"/>
            <a:ext cx="15727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spc="120">
                <a:solidFill>
                  <a:srgbClr val="F2EDE6"/>
                </a:solidFill>
                <a:latin typeface="Corbel"/>
              </a:rPr>
              <a:t>STORY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2880360"/>
            <a:ext cx="4937760" cy="2834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309067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spc="160">
                <a:solidFill>
                  <a:srgbClr val="A8265C"/>
                </a:solidFill>
                <a:latin typeface="Corbel"/>
              </a:rPr>
              <a:t>FILTER BY REGION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78992" y="3429000"/>
            <a:ext cx="1371600" cy="347472"/>
          </a:xfrm>
          <a:prstGeom prst="rect">
            <a:avLst/>
          </a:prstGeom>
          <a:solidFill>
            <a:srgbClr val="4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3511296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2EDE6"/>
                </a:solidFill>
                <a:latin typeface="Corbel"/>
              </a:rPr>
              <a:t>Africa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3429000"/>
            <a:ext cx="1371600" cy="347472"/>
          </a:xfrm>
          <a:prstGeom prst="rect">
            <a:avLst/>
          </a:prstGeom>
          <a:solidFill>
            <a:srgbClr val="F2EDE6"/>
          </a:solidFill>
          <a:ln w="9525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0" y="3511296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14100E"/>
                </a:solidFill>
                <a:latin typeface="Corbel"/>
              </a:rPr>
              <a:t>Americas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41648" y="3429000"/>
            <a:ext cx="1371600" cy="347472"/>
          </a:xfrm>
          <a:prstGeom prst="rect">
            <a:avLst/>
          </a:prstGeom>
          <a:solidFill>
            <a:srgbClr val="F2EDE6"/>
          </a:solidFill>
          <a:ln w="9525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41648" y="3511296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14100E"/>
                </a:solidFill>
                <a:latin typeface="Corbel"/>
              </a:rPr>
              <a:t>Asia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78992" y="3886200"/>
            <a:ext cx="1371600" cy="347472"/>
          </a:xfrm>
          <a:prstGeom prst="rect">
            <a:avLst/>
          </a:prstGeom>
          <a:solidFill>
            <a:srgbClr val="F2EDE6"/>
          </a:solidFill>
          <a:ln w="9525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2" y="3968496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14100E"/>
                </a:solidFill>
                <a:latin typeface="Corbel"/>
              </a:rPr>
              <a:t>Europe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0320" y="3886200"/>
            <a:ext cx="1371600" cy="347472"/>
          </a:xfrm>
          <a:prstGeom prst="rect">
            <a:avLst/>
          </a:prstGeom>
          <a:solidFill>
            <a:srgbClr val="F2EDE6"/>
          </a:solidFill>
          <a:ln w="9525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0" y="3968496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14100E"/>
                </a:solidFill>
                <a:latin typeface="Corbel"/>
              </a:rPr>
              <a:t>Middle East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41648" y="3886200"/>
            <a:ext cx="1371600" cy="347472"/>
          </a:xfrm>
          <a:prstGeom prst="rect">
            <a:avLst/>
          </a:prstGeom>
          <a:solidFill>
            <a:srgbClr val="F2EDE6"/>
          </a:solidFill>
          <a:ln w="9525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41648" y="3968496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14100E"/>
                </a:solidFill>
                <a:latin typeface="Corbel"/>
              </a:rPr>
              <a:t>Oceania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78992" y="4434840"/>
            <a:ext cx="4434840" cy="365760"/>
          </a:xfrm>
          <a:prstGeom prst="rect">
            <a:avLst/>
          </a:prstGeom>
          <a:solidFill>
            <a:srgbClr val="F2EDE6"/>
          </a:solidFill>
          <a:ln w="9525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8992" y="4517136"/>
            <a:ext cx="4434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80">
                <a:solidFill>
                  <a:srgbClr val="6B6259"/>
                </a:solidFill>
                <a:latin typeface="Corbel"/>
              </a:rPr>
              <a:t>[COUNTRIES SHUMI OPERATES IN — client to supply]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2880360"/>
            <a:ext cx="5239512" cy="2834640"/>
          </a:xfrm>
          <a:prstGeom prst="rect">
            <a:avLst/>
          </a:prstGeom>
          <a:solidFill>
            <a:srgbClr val="14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26480" y="2880360"/>
            <a:ext cx="5239512" cy="3810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82512" y="3154680"/>
            <a:ext cx="47548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950" b="1" spc="160">
                <a:solidFill>
                  <a:srgbClr val="E85D9E"/>
                </a:solidFill>
                <a:latin typeface="Corbel"/>
              </a:rPr>
              <a:t>WHY A LIST BEFORE A MAP</a:t>
            </a:r>
          </a:p>
          <a:p>
            <a:pPr algn="l">
              <a:lnSpc>
                <a:spcPct val="140000"/>
              </a:lnSpc>
              <a:spcAft>
                <a:spcPts val="1200"/>
              </a:spcAft>
            </a:pPr>
            <a:r>
              <a:rPr sz="1200" b="0">
                <a:solidFill>
                  <a:srgbClr val="F2EDE6"/>
                </a:solidFill>
                <a:latin typeface="Corbel"/>
              </a:rPr>
              <a:t>A typeset region index is honest at three countries and still works at sixty. A world map with four pins advertises how few pins there are — the opposite of the intended effect.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B3A89E"/>
                </a:solidFill>
                <a:latin typeface="Corbel"/>
              </a:rPr>
              <a:t>It is also keyboard-navigable and legible to a screen reader, which a map is not without significant extra work. The map becomes progressive enhancement, never the only way in.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spc="120">
                <a:solidFill>
                  <a:srgbClr val="6B6259"/>
                </a:solidFill>
                <a:latin typeface="Corbel"/>
              </a:rPr>
              <a:t>18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20">
                <a:solidFill>
                  <a:srgbClr val="A8265C"/>
                </a:solidFill>
                <a:latin typeface="Corbel"/>
              </a:rPr>
              <a:t>18 — PROGRAMME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0" spc="-90">
                <a:solidFill>
                  <a:srgbClr val="14100E"/>
                </a:solidFill>
                <a:latin typeface="Georgia"/>
              </a:rPr>
              <a:t>Discovery that works at six, and at sixty.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920240"/>
            <a:ext cx="1051560" cy="365760"/>
          </a:xfrm>
          <a:prstGeom prst="rect">
            <a:avLst/>
          </a:prstGeom>
          <a:solidFill>
            <a:srgbClr val="4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spc="80">
                <a:solidFill>
                  <a:srgbClr val="F2EDE6"/>
                </a:solidFill>
                <a:latin typeface="Corbel"/>
              </a:rPr>
              <a:t>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2002536" y="1920240"/>
            <a:ext cx="1051560" cy="365760"/>
          </a:xfrm>
          <a:prstGeom prst="rect">
            <a:avLst/>
          </a:prstGeom>
          <a:solidFill>
            <a:srgbClr val="F2EDE6"/>
          </a:solidFill>
          <a:ln w="9525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02536" y="2011680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spc="80">
                <a:solidFill>
                  <a:srgbClr val="14100E"/>
                </a:solidFill>
                <a:latin typeface="Corbel"/>
              </a:rPr>
              <a:t>Region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182112" y="1920240"/>
            <a:ext cx="1051560" cy="365760"/>
          </a:xfrm>
          <a:prstGeom prst="rect">
            <a:avLst/>
          </a:prstGeom>
          <a:solidFill>
            <a:srgbClr val="F2EDE6"/>
          </a:solidFill>
          <a:ln w="9525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82112" y="2011680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spc="80">
                <a:solidFill>
                  <a:srgbClr val="14100E"/>
                </a:solidFill>
                <a:latin typeface="Corbel"/>
              </a:rPr>
              <a:t>Theme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1688" y="1920240"/>
            <a:ext cx="1051560" cy="365760"/>
          </a:xfrm>
          <a:prstGeom prst="rect">
            <a:avLst/>
          </a:prstGeom>
          <a:solidFill>
            <a:srgbClr val="F2EDE6"/>
          </a:solidFill>
          <a:ln w="9525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1688" y="2011680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spc="80">
                <a:solidFill>
                  <a:srgbClr val="14100E"/>
                </a:solidFill>
                <a:latin typeface="Corbel"/>
              </a:rPr>
              <a:t>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41264" y="1920240"/>
            <a:ext cx="1051560" cy="365760"/>
          </a:xfrm>
          <a:prstGeom prst="rect">
            <a:avLst/>
          </a:prstGeom>
          <a:solidFill>
            <a:srgbClr val="F2EDE6"/>
          </a:solidFill>
          <a:ln w="9525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41264" y="2011680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spc="80">
                <a:solidFill>
                  <a:srgbClr val="14100E"/>
                </a:solidFill>
                <a:latin typeface="Corbel"/>
              </a:rPr>
              <a:t>Status</a:t>
            </a:r>
          </a:p>
        </p:txBody>
      </p:sp>
      <p:pic>
        <p:nvPicPr>
          <p:cNvPr id="14" name="Picture 13" descr="c3-wo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606040"/>
            <a:ext cx="2487168" cy="1600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2960" y="4343400"/>
            <a:ext cx="248716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900" b="1" spc="160">
                <a:solidFill>
                  <a:srgbClr val="A8265C"/>
                </a:solidFill>
                <a:latin typeface="Corbel"/>
              </a:rPr>
              <a:t>EDUCATION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700" b="0">
                <a:solidFill>
                  <a:srgbClr val="14100E"/>
                </a:solidFill>
                <a:latin typeface="Georgia"/>
              </a:rPr>
              <a:t>[PROGRAM NAME]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00" b="0">
                <a:solidFill>
                  <a:srgbClr val="6B6259"/>
                </a:solidFill>
                <a:latin typeface="Corbel"/>
              </a:rPr>
              <a:t>[Region] · [Theme]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6B6259"/>
                </a:solidFill>
                <a:latin typeface="Corbel"/>
              </a:rPr>
              <a:t>[Short description — client to supply]</a:t>
            </a:r>
          </a:p>
          <a:p>
            <a:pPr algn="l">
              <a:lnSpc>
                <a:spcPct val="130000"/>
              </a:lnSpc>
            </a:pPr>
            <a:r>
              <a:rPr sz="1050" b="1">
                <a:solidFill>
                  <a:srgbClr val="A8265C"/>
                </a:solidFill>
                <a:latin typeface="Corbel"/>
              </a:rPr>
              <a:t>Explore →</a:t>
            </a:r>
          </a:p>
        </p:txBody>
      </p:sp>
      <p:pic>
        <p:nvPicPr>
          <p:cNvPr id="16" name="Picture 15" descr="c2-hand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606040"/>
            <a:ext cx="2487168" cy="1600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11880" y="4343400"/>
            <a:ext cx="248716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900" b="1" spc="160">
                <a:solidFill>
                  <a:srgbClr val="A8265C"/>
                </a:solidFill>
                <a:latin typeface="Corbel"/>
              </a:rPr>
              <a:t>ECONOMIC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700" b="0">
                <a:solidFill>
                  <a:srgbClr val="14100E"/>
                </a:solidFill>
                <a:latin typeface="Georgia"/>
              </a:rPr>
              <a:t>[PROGRAM NAME]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00" b="0">
                <a:solidFill>
                  <a:srgbClr val="6B6259"/>
                </a:solidFill>
                <a:latin typeface="Corbel"/>
              </a:rPr>
              <a:t>[Region] · [Theme]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6B6259"/>
                </a:solidFill>
                <a:latin typeface="Corbel"/>
              </a:rPr>
              <a:t>[Short description — client to supply]</a:t>
            </a:r>
          </a:p>
          <a:p>
            <a:pPr algn="l">
              <a:lnSpc>
                <a:spcPct val="130000"/>
              </a:lnSpc>
            </a:pPr>
            <a:r>
              <a:rPr sz="1050" b="1">
                <a:solidFill>
                  <a:srgbClr val="A8265C"/>
                </a:solidFill>
                <a:latin typeface="Corbel"/>
              </a:rPr>
              <a:t>Explore →</a:t>
            </a:r>
          </a:p>
        </p:txBody>
      </p:sp>
      <p:pic>
        <p:nvPicPr>
          <p:cNvPr id="18" name="Picture 17" descr="c3-stud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606040"/>
            <a:ext cx="2487168" cy="1600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00800" y="4343400"/>
            <a:ext cx="248716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900" b="1" spc="160">
                <a:solidFill>
                  <a:srgbClr val="A8265C"/>
                </a:solidFill>
                <a:latin typeface="Corbel"/>
              </a:rPr>
              <a:t>LEADERSHIP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700" b="0">
                <a:solidFill>
                  <a:srgbClr val="14100E"/>
                </a:solidFill>
                <a:latin typeface="Georgia"/>
              </a:rPr>
              <a:t>[PROGRAM NAME]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00" b="0">
                <a:solidFill>
                  <a:srgbClr val="6B6259"/>
                </a:solidFill>
                <a:latin typeface="Corbel"/>
              </a:rPr>
              <a:t>[Region] · [Theme]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6B6259"/>
                </a:solidFill>
                <a:latin typeface="Corbel"/>
              </a:rPr>
              <a:t>[Short description — client to supply]</a:t>
            </a:r>
          </a:p>
          <a:p>
            <a:pPr algn="l">
              <a:lnSpc>
                <a:spcPct val="130000"/>
              </a:lnSpc>
            </a:pPr>
            <a:r>
              <a:rPr sz="1050" b="1">
                <a:solidFill>
                  <a:srgbClr val="A8265C"/>
                </a:solidFill>
                <a:latin typeface="Corbel"/>
              </a:rPr>
              <a:t>Explore →</a:t>
            </a:r>
          </a:p>
        </p:txBody>
      </p:sp>
      <p:pic>
        <p:nvPicPr>
          <p:cNvPr id="20" name="Picture 19" descr="c1-portrait-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0" y="2606040"/>
            <a:ext cx="2487168" cy="1600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189720" y="4343400"/>
            <a:ext cx="248716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900" b="1" spc="160">
                <a:solidFill>
                  <a:srgbClr val="A8265C"/>
                </a:solidFill>
                <a:latin typeface="Corbel"/>
              </a:rPr>
              <a:t>COMMUNITY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700" b="0">
                <a:solidFill>
                  <a:srgbClr val="14100E"/>
                </a:solidFill>
                <a:latin typeface="Georgia"/>
              </a:rPr>
              <a:t>[PROGRAM NAME]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00" b="0">
                <a:solidFill>
                  <a:srgbClr val="6B6259"/>
                </a:solidFill>
                <a:latin typeface="Corbel"/>
              </a:rPr>
              <a:t>[Region] · [Theme]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6B6259"/>
                </a:solidFill>
                <a:latin typeface="Corbel"/>
              </a:rPr>
              <a:t>[Short description — client to supply]</a:t>
            </a:r>
          </a:p>
          <a:p>
            <a:pPr algn="l">
              <a:lnSpc>
                <a:spcPct val="130000"/>
              </a:lnSpc>
            </a:pPr>
            <a:r>
              <a:rPr sz="1050" b="1">
                <a:solidFill>
                  <a:srgbClr val="A8265C"/>
                </a:solidFill>
                <a:latin typeface="Corbel"/>
              </a:rPr>
              <a:t>Explore 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spc="120">
                <a:solidFill>
                  <a:srgbClr val="6B6259"/>
                </a:solidFill>
                <a:latin typeface="Corbel"/>
              </a:rPr>
              <a:t>19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12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5_stories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00E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20">
                <a:solidFill>
                  <a:srgbClr val="E85D9E"/>
                </a:solidFill>
                <a:latin typeface="Corbel"/>
              </a:rPr>
              <a:t>19 — STORIES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spc="-90">
                <a:solidFill>
                  <a:srgbClr val="F2EDE6"/>
                </a:solidFill>
                <a:latin typeface="Georgia"/>
              </a:rPr>
              <a:t>Her story is part of a larger story.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5577840" cy="3566160"/>
          </a:xfrm>
          <a:prstGeom prst="rect">
            <a:avLst/>
          </a:prstGeom>
          <a:solidFill>
            <a:srgbClr val="14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48840"/>
            <a:ext cx="5577840" cy="3810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468880"/>
            <a:ext cx="49377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2600" b="0" spc="-60">
                <a:solidFill>
                  <a:srgbClr val="F2EDE6"/>
                </a:solidFill>
                <a:latin typeface="Georgia"/>
              </a:rPr>
              <a:t>[WOMAN'S NAME]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000" b="1" spc="160">
                <a:solidFill>
                  <a:srgbClr val="E85D9E"/>
                </a:solidFill>
                <a:latin typeface="Corbel"/>
              </a:rPr>
              <a:t>[LOCATION] · [REGION]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500" b="0">
                <a:solidFill>
                  <a:srgbClr val="F2EDE6"/>
                </a:solidFill>
                <a:latin typeface="Georgia"/>
              </a:rPr>
              <a:t>“[Her quotation — real, short, attributed, and used with her permission.]”</a:t>
            </a:r>
          </a:p>
          <a:p>
            <a:pPr algn="l">
              <a:lnSpc>
                <a:spcPct val="135000"/>
              </a:lnSpc>
              <a:spcAft>
                <a:spcPts val="1400"/>
              </a:spcAft>
            </a:pPr>
            <a:r>
              <a:rPr sz="1100" b="0">
                <a:solidFill>
                  <a:srgbClr val="B3A89E"/>
                </a:solidFill>
                <a:latin typeface="Corbel"/>
              </a:rPr>
              <a:t>[Short introduction — 40 to 60 words, client to supply]</a:t>
            </a:r>
          </a:p>
          <a:p>
            <a:pPr algn="l">
              <a:lnSpc>
                <a:spcPct val="135000"/>
              </a:lnSpc>
            </a:pPr>
            <a:r>
              <a:rPr sz="1050" b="1" spc="140">
                <a:solidFill>
                  <a:srgbClr val="E85D9E"/>
                </a:solidFill>
                <a:latin typeface="Corbel"/>
              </a:rPr>
              <a:t>READ HER STORY 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4617720"/>
            <a:ext cx="4480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F2EDE6"/>
                </a:solidFill>
                <a:latin typeface="Corbel"/>
              </a:rPr>
              <a:t>Every story carries region, theme and programme as metadata. That is what makes the global architecture real rather than claimed — and what lets one story link back up to its community, its region and the world.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spc="120">
                <a:solidFill>
                  <a:srgbClr val="B3A89E"/>
                </a:solidFill>
                <a:latin typeface="Corbel"/>
              </a:rPr>
              <a:t>20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  <mc:AlternateContent xmlns:mc="http://schemas.openxmlformats.org/markup-compatibility/2006" xmlns:p14="http://schemas.microsoft.com/office/powerpoint/2010/main"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20">
                <a:solidFill>
                  <a:srgbClr val="A8265C"/>
                </a:solidFill>
                <a:latin typeface="Corbel"/>
              </a:rPr>
              <a:t>20 — EVENTS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0" spc="-90">
                <a:solidFill>
                  <a:srgbClr val="14100E"/>
                </a:solidFill>
                <a:latin typeface="Georgia"/>
              </a:rPr>
              <a:t>Events are experiences, not a calendar.</a:t>
            </a:r>
          </a:p>
        </p:txBody>
      </p:sp>
      <p:pic>
        <p:nvPicPr>
          <p:cNvPr id="4" name="Picture 3" descr="c1-gro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937760" cy="2788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126480" y="1965960"/>
            <a:ext cx="5239512" cy="2788920"/>
          </a:xfrm>
          <a:prstGeom prst="rect">
            <a:avLst/>
          </a:prstGeom>
          <a:solidFill>
            <a:srgbClr val="14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224028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00" b="1" spc="180">
                <a:solidFill>
                  <a:srgbClr val="E85D9E"/>
                </a:solidFill>
                <a:latin typeface="Corbel"/>
              </a:rPr>
              <a:t>[DATE]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 spc="-80">
                <a:solidFill>
                  <a:srgbClr val="F2EDE6"/>
                </a:solidFill>
                <a:latin typeface="Georgia"/>
              </a:rPr>
              <a:t>[EVENT NAME]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100" b="0" spc="100">
                <a:solidFill>
                  <a:srgbClr val="6B6259"/>
                </a:solidFill>
                <a:latin typeface="Corbel"/>
              </a:rPr>
              <a:t>[LOCATION]</a:t>
            </a:r>
          </a:p>
          <a:p>
            <a:pPr algn="l">
              <a:lnSpc>
                <a:spcPct val="135000"/>
              </a:lnSpc>
              <a:spcAft>
                <a:spcPts val="1400"/>
              </a:spcAft>
            </a:pPr>
            <a:r>
              <a:rPr sz="1150" b="0">
                <a:solidFill>
                  <a:srgbClr val="6B6259"/>
                </a:solidFill>
                <a:latin typeface="Corbel"/>
              </a:rPr>
              <a:t>[Short description — client to supply]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4114800"/>
            <a:ext cx="1920240" cy="45720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4242816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spc="150">
                <a:solidFill>
                  <a:srgbClr val="14100E"/>
                </a:solidFill>
                <a:latin typeface="Corbel"/>
              </a:rPr>
              <a:t>REGISTER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983480"/>
            <a:ext cx="10543032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4983480"/>
            <a:ext cx="10543032" cy="38100"/>
          </a:xfrm>
          <a:prstGeom prst="rect">
            <a:avLst/>
          </a:prstGeom>
          <a:solidFill>
            <a:srgbClr val="A82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2120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950" b="1" spc="160">
                <a:solidFill>
                  <a:srgbClr val="A8265C"/>
                </a:solidFill>
                <a:latin typeface="Corbel"/>
              </a:rPr>
              <a:t>ARCHITECTED FOR EVENTBRITE — NOT INTEGRATED TODAY</a:t>
            </a:r>
          </a:p>
          <a:p>
            <a:pPr algn="l">
              <a:lnSpc>
                <a:spcPct val="140000"/>
              </a:lnSpc>
            </a:pPr>
            <a:r>
              <a:rPr sz="1150" b="0">
                <a:solidFill>
                  <a:srgbClr val="6B6259"/>
                </a:solidFill>
                <a:latin typeface="Corbel"/>
              </a:rPr>
              <a:t>The ticket action is a slot behind a clean interface, so connecting Eventbrite later is configuration rather than a rebuild. We are not claiming an integration that does not exist. A post-event state is designed too, so the section never looks stale the morning after.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spc="120">
                <a:solidFill>
                  <a:srgbClr val="6B6259"/>
                </a:solidFill>
                <a:latin typeface="Corbel"/>
              </a:rPr>
              <a:t>21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0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20">
                <a:solidFill>
                  <a:srgbClr val="E85D9E"/>
                </a:solidFill>
                <a:latin typeface="Corbel"/>
              </a:rPr>
              <a:t>21 — GET INVOLVED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spc="-90">
                <a:solidFill>
                  <a:srgbClr val="F2EDE6"/>
                </a:solidFill>
                <a:latin typeface="Georgia"/>
              </a:rPr>
              <a:t>Learn → Connect → 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B3A89E"/>
                </a:solidFill>
                <a:latin typeface="Corbel"/>
              </a:rPr>
              <a:t>Not six identical buttons. A progression ordered by commitment.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032504"/>
            <a:ext cx="1627632" cy="676656"/>
          </a:xfrm>
          <a:prstGeom prst="rect">
            <a:avLst/>
          </a:prstGeom>
          <a:solidFill>
            <a:srgbClr val="4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416052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2EDE6"/>
                </a:solidFill>
                <a:latin typeface="Georgia"/>
              </a:rPr>
              <a:t>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46320"/>
            <a:ext cx="16276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B3A89E"/>
                </a:solidFill>
                <a:latin typeface="Corbel"/>
              </a:rPr>
              <a:t>Lowest effort. One tap.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3858768"/>
            <a:ext cx="1627632" cy="850392"/>
          </a:xfrm>
          <a:prstGeom prst="rect">
            <a:avLst/>
          </a:prstGeom>
          <a:solidFill>
            <a:srgbClr val="4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34056" y="3986784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2EDE6"/>
                </a:solidFill>
                <a:latin typeface="Georgia"/>
              </a:rPr>
              <a:t>Attend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4846320"/>
            <a:ext cx="16276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B3A89E"/>
                </a:solidFill>
                <a:latin typeface="Corbel"/>
              </a:rPr>
              <a:t>Come to an event.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3685032"/>
            <a:ext cx="1627632" cy="1024128"/>
          </a:xfrm>
          <a:prstGeom prst="rect">
            <a:avLst/>
          </a:prstGeom>
          <a:solidFill>
            <a:srgbClr val="4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3813048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2EDE6"/>
                </a:solidFill>
                <a:latin typeface="Georgia"/>
              </a:rPr>
              <a:t>Volunteer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4846320"/>
            <a:ext cx="16276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B3A89E"/>
                </a:solidFill>
                <a:latin typeface="Corbel"/>
              </a:rPr>
              <a:t>Give time.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511296"/>
            <a:ext cx="1627632" cy="1197864"/>
          </a:xfrm>
          <a:prstGeom prst="rect">
            <a:avLst/>
          </a:prstGeom>
          <a:solidFill>
            <a:srgbClr val="4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0216" y="3639312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2EDE6"/>
                </a:solidFill>
                <a:latin typeface="Georgia"/>
              </a:rPr>
              <a:t>Participate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4846320"/>
            <a:ext cx="16276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B3A89E"/>
                </a:solidFill>
                <a:latin typeface="Corbel"/>
              </a:rPr>
              <a:t>Join a programme.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80" y="3337560"/>
            <a:ext cx="1627632" cy="137160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3465576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4100E"/>
                </a:solidFill>
                <a:latin typeface="Georgia"/>
              </a:rPr>
              <a:t>Partner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4846320"/>
            <a:ext cx="16276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B3A89E"/>
                </a:solidFill>
                <a:latin typeface="Corbel"/>
              </a:rPr>
              <a:t>Organisational.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38360" y="3163824"/>
            <a:ext cx="1627632" cy="1545336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66376" y="329184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4100E"/>
                </a:solidFill>
                <a:latin typeface="Georgia"/>
              </a:rPr>
              <a:t>Donate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60" y="4846320"/>
            <a:ext cx="16276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B3A89E"/>
                </a:solidFill>
                <a:latin typeface="Corbel"/>
              </a:rPr>
              <a:t>Highest commitment.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6235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E85D9E"/>
                </a:solidFill>
                <a:latin typeface="Corbel"/>
              </a:rPr>
              <a:t>Height signals commitment. The page moves left to right from the easiest thing a visitor can do to the biggest — so nobody is asked to donate before they have been given a reason to.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spc="120">
                <a:solidFill>
                  <a:srgbClr val="B3A89E"/>
                </a:solidFill>
                <a:latin typeface="Corbel"/>
              </a:rPr>
              <a:t>22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20">
                <a:solidFill>
                  <a:srgbClr val="A8265C"/>
                </a:solidFill>
                <a:latin typeface="Corbel"/>
              </a:rPr>
              <a:t>22 — MOBILE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0" spc="-90">
                <a:solidFill>
                  <a:srgbClr val="14100E"/>
                </a:solidFill>
                <a:latin typeface="Georgia"/>
              </a:rPr>
              <a:t>Designed for the phone, not shrunk to fit.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965960"/>
            <a:ext cx="1481328" cy="3108960"/>
          </a:xfrm>
          <a:prstGeom prst="rect">
            <a:avLst/>
          </a:prstGeom>
          <a:solidFill>
            <a:srgbClr val="14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2-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029968"/>
            <a:ext cx="1353312" cy="1371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86968" y="3474720"/>
            <a:ext cx="1353312" cy="82296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6968" y="3639312"/>
            <a:ext cx="1353312" cy="64008"/>
          </a:xfrm>
          <a:prstGeom prst="rect">
            <a:avLst/>
          </a:prstGeom>
          <a:solidFill>
            <a:srgbClr val="6B6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6968" y="3785616"/>
            <a:ext cx="914400" cy="64008"/>
          </a:xfrm>
          <a:prstGeom prst="rect">
            <a:avLst/>
          </a:prstGeom>
          <a:solidFill>
            <a:srgbClr val="6B6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6968" y="3931920"/>
            <a:ext cx="1353312" cy="64008"/>
          </a:xfrm>
          <a:prstGeom prst="rect">
            <a:avLst/>
          </a:prstGeom>
          <a:solidFill>
            <a:srgbClr val="6B6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6968" y="4078224"/>
            <a:ext cx="914400" cy="64008"/>
          </a:xfrm>
          <a:prstGeom prst="rect">
            <a:avLst/>
          </a:prstGeom>
          <a:solidFill>
            <a:srgbClr val="6B6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6968" y="4736592"/>
            <a:ext cx="1353312" cy="256032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138928"/>
            <a:ext cx="1481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spc="120">
                <a:solidFill>
                  <a:srgbClr val="6B6259"/>
                </a:solidFill>
                <a:latin typeface="Corbel"/>
              </a:rPr>
              <a:t>Home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1965960"/>
            <a:ext cx="1481328" cy="3108960"/>
          </a:xfrm>
          <a:prstGeom prst="rect">
            <a:avLst/>
          </a:prstGeom>
          <a:solidFill>
            <a:srgbClr val="14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1-portrait-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0048" y="2029968"/>
            <a:ext cx="1353312" cy="13716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2670048" y="3474720"/>
            <a:ext cx="1353312" cy="82296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70048" y="3639312"/>
            <a:ext cx="1353312" cy="64008"/>
          </a:xfrm>
          <a:prstGeom prst="rect">
            <a:avLst/>
          </a:prstGeom>
          <a:solidFill>
            <a:srgbClr val="6B6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70048" y="3785616"/>
            <a:ext cx="914400" cy="64008"/>
          </a:xfrm>
          <a:prstGeom prst="rect">
            <a:avLst/>
          </a:prstGeom>
          <a:solidFill>
            <a:srgbClr val="6B6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70048" y="3931920"/>
            <a:ext cx="1353312" cy="64008"/>
          </a:xfrm>
          <a:prstGeom prst="rect">
            <a:avLst/>
          </a:prstGeom>
          <a:solidFill>
            <a:srgbClr val="6B6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70048" y="4078224"/>
            <a:ext cx="914400" cy="64008"/>
          </a:xfrm>
          <a:prstGeom prst="rect">
            <a:avLst/>
          </a:prstGeom>
          <a:solidFill>
            <a:srgbClr val="6B6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70048" y="4736592"/>
            <a:ext cx="1353312" cy="256032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06040" y="5138928"/>
            <a:ext cx="1481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spc="120">
                <a:solidFill>
                  <a:srgbClr val="6B6259"/>
                </a:solidFill>
                <a:latin typeface="Corbel"/>
              </a:rPr>
              <a:t>Story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1965960"/>
            <a:ext cx="1481328" cy="3108960"/>
          </a:xfrm>
          <a:prstGeom prst="rect">
            <a:avLst/>
          </a:prstGeom>
          <a:solidFill>
            <a:srgbClr val="14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1-grou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128" y="2029968"/>
            <a:ext cx="1353312" cy="13716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453128" y="3474720"/>
            <a:ext cx="1353312" cy="82296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53128" y="3639312"/>
            <a:ext cx="1353312" cy="64008"/>
          </a:xfrm>
          <a:prstGeom prst="rect">
            <a:avLst/>
          </a:prstGeom>
          <a:solidFill>
            <a:srgbClr val="6B6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53128" y="3785616"/>
            <a:ext cx="914400" cy="64008"/>
          </a:xfrm>
          <a:prstGeom prst="rect">
            <a:avLst/>
          </a:prstGeom>
          <a:solidFill>
            <a:srgbClr val="6B6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53128" y="3931920"/>
            <a:ext cx="1353312" cy="64008"/>
          </a:xfrm>
          <a:prstGeom prst="rect">
            <a:avLst/>
          </a:prstGeom>
          <a:solidFill>
            <a:srgbClr val="6B6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53128" y="4078224"/>
            <a:ext cx="914400" cy="64008"/>
          </a:xfrm>
          <a:prstGeom prst="rect">
            <a:avLst/>
          </a:prstGeom>
          <a:solidFill>
            <a:srgbClr val="6B6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53128" y="4736592"/>
            <a:ext cx="1353312" cy="256032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0" y="5138928"/>
            <a:ext cx="1481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spc="120">
                <a:solidFill>
                  <a:srgbClr val="6B6259"/>
                </a:solidFill>
                <a:latin typeface="Corbel"/>
              </a:rPr>
              <a:t>Event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2093976"/>
            <a:ext cx="118872" cy="19050"/>
          </a:xfrm>
          <a:prstGeom prst="rect">
            <a:avLst/>
          </a:prstGeom>
          <a:solidFill>
            <a:srgbClr val="A82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2512" y="2011680"/>
            <a:ext cx="4937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00" b="0">
                <a:solidFill>
                  <a:srgbClr val="14100E"/>
                </a:solidFill>
                <a:latin typeface="Georgia"/>
              </a:rPr>
              <a:t>Menu says the word “Menu”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6259"/>
                </a:solidFill>
                <a:latin typeface="Corbel"/>
              </a:rPr>
              <a:t>Not a bare icon. Older users tap words.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2752344"/>
            <a:ext cx="118872" cy="19050"/>
          </a:xfrm>
          <a:prstGeom prst="rect">
            <a:avLst/>
          </a:prstGeom>
          <a:solidFill>
            <a:srgbClr val="A82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2670048"/>
            <a:ext cx="4937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00" b="0">
                <a:solidFill>
                  <a:srgbClr val="14100E"/>
                </a:solidFill>
                <a:latin typeface="Georgia"/>
              </a:rPr>
              <a:t>Primary action in the lower third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6259"/>
                </a:solidFill>
                <a:latin typeface="Corbel"/>
              </a:rPr>
              <a:t>Thumb reach is a layout constraint.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3410712"/>
            <a:ext cx="118872" cy="19050"/>
          </a:xfrm>
          <a:prstGeom prst="rect">
            <a:avLst/>
          </a:prstGeom>
          <a:solidFill>
            <a:srgbClr val="A82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82512" y="3328416"/>
            <a:ext cx="4937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00" b="0">
                <a:solidFill>
                  <a:srgbClr val="14100E"/>
                </a:solidFill>
                <a:latin typeface="Georgia"/>
              </a:rPr>
              <a:t>Art-directed crops per breakpoint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6259"/>
                </a:solidFill>
                <a:latin typeface="Corbel"/>
              </a:rPr>
              <a:t>A 21:9 desktop hero becomes 4:5 on mobile.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4069080"/>
            <a:ext cx="118872" cy="19050"/>
          </a:xfrm>
          <a:prstGeom prst="rect">
            <a:avLst/>
          </a:prstGeom>
          <a:solidFill>
            <a:srgbClr val="A82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82512" y="3986784"/>
            <a:ext cx="4937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00" b="0">
                <a:solidFill>
                  <a:srgbClr val="14100E"/>
                </a:solidFill>
                <a:latin typeface="Georgia"/>
              </a:rPr>
              <a:t>Nothing depends on hover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6259"/>
                </a:solidFill>
                <a:latin typeface="Corbel"/>
              </a:rPr>
              <a:t>Every menu opens on tap.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4727448"/>
            <a:ext cx="118872" cy="19050"/>
          </a:xfrm>
          <a:prstGeom prst="rect">
            <a:avLst/>
          </a:prstGeom>
          <a:solidFill>
            <a:srgbClr val="A82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82512" y="4645152"/>
            <a:ext cx="4937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00" b="0">
                <a:solidFill>
                  <a:srgbClr val="14100E"/>
                </a:solidFill>
                <a:latin typeface="Georgia"/>
              </a:rPr>
              <a:t>Scale relationships hold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6259"/>
                </a:solidFill>
                <a:latin typeface="Corbel"/>
              </a:rPr>
              <a:t>Display steps 112px → 44px; the ratios survive.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spc="120">
                <a:solidFill>
                  <a:srgbClr val="6B6259"/>
                </a:solidFill>
                <a:latin typeface="Corbel"/>
              </a:rPr>
              <a:t>23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0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20">
                <a:solidFill>
                  <a:srgbClr val="E85D9E"/>
                </a:solidFill>
                <a:latin typeface="Corbel"/>
              </a:rPr>
              <a:t>23 — MOTION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spc="-90">
                <a:solidFill>
                  <a:srgbClr val="F2EDE6"/>
                </a:solidFill>
                <a:latin typeface="Georgia"/>
              </a:rPr>
              <a:t>Motion with a job to do.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03120"/>
            <a:ext cx="3017520" cy="2540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267712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F2EDE6"/>
                </a:solidFill>
                <a:latin typeface="Georgia"/>
              </a:rPr>
              <a:t>Image reveal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B3A89E"/>
                </a:solidFill>
                <a:latin typeface="Corbel"/>
              </a:rPr>
              <a:t>Mask wipe up, 600ms. Once, on first view.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2103120"/>
            <a:ext cx="3017520" cy="2540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2267712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F2EDE6"/>
                </a:solidFill>
                <a:latin typeface="Georgia"/>
              </a:rPr>
              <a:t>Editorial statement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B3A89E"/>
                </a:solidFill>
                <a:latin typeface="Corbel"/>
              </a:rPr>
              <a:t>Line-by-line rise, 80ms stagger.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80" y="2103120"/>
            <a:ext cx="3017520" cy="2540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0" y="2267712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F2EDE6"/>
                </a:solidFill>
                <a:latin typeface="Georgia"/>
              </a:rPr>
              <a:t>Impact figures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B3A89E"/>
                </a:solidFill>
                <a:latin typeface="Corbel"/>
              </a:rPr>
              <a:t>Count up 1200ms — and present as static text before any script runs.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337560"/>
            <a:ext cx="3017520" cy="2540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502152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F2EDE6"/>
                </a:solidFill>
                <a:latin typeface="Georgia"/>
              </a:rPr>
              <a:t>Story rail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B3A89E"/>
                </a:solidFill>
                <a:latin typeface="Corbel"/>
              </a:rPr>
              <a:t>Horizontal momentum, keyboard operable.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3337560"/>
            <a:ext cx="3017520" cy="2540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3502152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F2EDE6"/>
                </a:solidFill>
                <a:latin typeface="Georgia"/>
              </a:rPr>
              <a:t>Page transition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B3A89E"/>
                </a:solidFill>
                <a:latin typeface="Corbel"/>
              </a:rPr>
              <a:t>300ms cross-fade.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3337560"/>
            <a:ext cx="3017520" cy="2540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3502152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F2EDE6"/>
                </a:solidFill>
                <a:latin typeface="Georgia"/>
              </a:rPr>
              <a:t>Hover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B3A89E"/>
                </a:solidFill>
                <a:latin typeface="Corbel"/>
              </a:rPr>
              <a:t>150ms colour only. Never scale, never lift.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892040"/>
            <a:ext cx="10543032" cy="1234440"/>
          </a:xfrm>
          <a:prstGeom prst="rect">
            <a:avLst/>
          </a:prstGeom>
          <a:solidFill>
            <a:srgbClr val="4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12064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950" b="1" spc="160">
                <a:solidFill>
                  <a:srgbClr val="E85D9E"/>
                </a:solidFill>
                <a:latin typeface="Corbel"/>
              </a:rPr>
              <a:t>FORBIDDEN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F2EDE6"/>
                </a:solidFill>
                <a:latin typeface="Corbel"/>
              </a:rPr>
              <a:t>Bounce · spin · fly-in · auto-advancing carousels · scroll-jacking · parallax on text · anything that repeats on every scroll past.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B3A89E"/>
                </a:solidFill>
                <a:latin typeface="Corbel"/>
              </a:rPr>
              <a:t>prefers-reduced-motion disables all of it. Nothing is discoverable only through motion, and no information exists only inside an animation.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spc="120">
                <a:solidFill>
                  <a:srgbClr val="B3A89E"/>
                </a:solidFill>
                <a:latin typeface="Corbel"/>
              </a:rPr>
              <a:t>24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20">
                <a:solidFill>
                  <a:srgbClr val="A8265C"/>
                </a:solidFill>
                <a:latin typeface="Corbel"/>
              </a:rPr>
              <a:t>24 — CONTENT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0" spc="-90">
                <a:solidFill>
                  <a:srgbClr val="14100E"/>
                </a:solidFill>
                <a:latin typeface="Georgia"/>
              </a:rPr>
              <a:t>SHUMI updates the site. Not a developer.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965960"/>
            <a:ext cx="246888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965960"/>
            <a:ext cx="2468880" cy="31750"/>
          </a:xfrm>
          <a:prstGeom prst="rect">
            <a:avLst/>
          </a:prstGeom>
          <a:solidFill>
            <a:srgbClr val="4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30552"/>
            <a:ext cx="2194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14100E"/>
                </a:solidFill>
                <a:latin typeface="Georgia"/>
              </a:rPr>
              <a:t>Story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6B6259"/>
                </a:solidFill>
                <a:latin typeface="Corbel"/>
              </a:rPr>
              <a:t>Name · Location · Portrait · Quote · Body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965960"/>
            <a:ext cx="246888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0" y="1965960"/>
            <a:ext cx="2468880" cy="31750"/>
          </a:xfrm>
          <a:prstGeom prst="rect">
            <a:avLst/>
          </a:prstGeom>
          <a:solidFill>
            <a:srgbClr val="4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130552"/>
            <a:ext cx="2194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14100E"/>
                </a:solidFill>
                <a:latin typeface="Georgia"/>
              </a:rPr>
              <a:t>Program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6B6259"/>
                </a:solidFill>
                <a:latin typeface="Corbel"/>
              </a:rPr>
              <a:t>Name · Category · Impact · 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965960"/>
            <a:ext cx="246888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965960"/>
            <a:ext cx="2468880" cy="31750"/>
          </a:xfrm>
          <a:prstGeom prst="rect">
            <a:avLst/>
          </a:prstGeom>
          <a:solidFill>
            <a:srgbClr val="4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130552"/>
            <a:ext cx="2194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14100E"/>
                </a:solidFill>
                <a:latin typeface="Georgia"/>
              </a:rPr>
              <a:t>Event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6B6259"/>
                </a:solidFill>
                <a:latin typeface="Corbel"/>
              </a:rPr>
              <a:t>Name · Date · Location · Ticket URL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0" y="1965960"/>
            <a:ext cx="246888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78240" y="1965960"/>
            <a:ext cx="2468880" cy="31750"/>
          </a:xfrm>
          <a:prstGeom prst="rect">
            <a:avLst/>
          </a:prstGeom>
          <a:solidFill>
            <a:srgbClr val="4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2130552"/>
            <a:ext cx="2194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14100E"/>
                </a:solidFill>
                <a:latin typeface="Georgia"/>
              </a:rPr>
              <a:t>Resource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6B6259"/>
                </a:solidFill>
                <a:latin typeface="Corbel"/>
              </a:rPr>
              <a:t>Title · Type · File · Description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2990088"/>
            <a:ext cx="246888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2990088"/>
            <a:ext cx="2468880" cy="31750"/>
          </a:xfrm>
          <a:prstGeom prst="rect">
            <a:avLst/>
          </a:prstGeom>
          <a:solidFill>
            <a:srgbClr val="4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154680"/>
            <a:ext cx="2194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14100E"/>
                </a:solidFill>
                <a:latin typeface="Georgia"/>
              </a:rPr>
              <a:t>Region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6B6259"/>
                </a:solidFill>
                <a:latin typeface="Corbel"/>
              </a:rPr>
              <a:t>Name · Communities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2990088"/>
            <a:ext cx="246888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74720" y="2990088"/>
            <a:ext cx="2468880" cy="31750"/>
          </a:xfrm>
          <a:prstGeom prst="rect">
            <a:avLst/>
          </a:prstGeom>
          <a:solidFill>
            <a:srgbClr val="4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3154680"/>
            <a:ext cx="2194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14100E"/>
                </a:solidFill>
                <a:latin typeface="Georgia"/>
              </a:rPr>
              <a:t>Impact metric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6B6259"/>
                </a:solidFill>
                <a:latin typeface="Corbel"/>
              </a:rPr>
              <a:t>Label · Value · Source · As-of date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2990088"/>
            <a:ext cx="246888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2990088"/>
            <a:ext cx="2468880" cy="31750"/>
          </a:xfrm>
          <a:prstGeom prst="rect">
            <a:avLst/>
          </a:prstGeom>
          <a:solidFill>
            <a:srgbClr val="4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154680"/>
            <a:ext cx="2194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14100E"/>
                </a:solidFill>
                <a:latin typeface="Georgia"/>
              </a:rPr>
              <a:t>Partner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6B6259"/>
                </a:solidFill>
                <a:latin typeface="Corbel"/>
              </a:rPr>
              <a:t>Name · Logo · Consent flag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78240" y="2990088"/>
            <a:ext cx="246888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78240" y="2990088"/>
            <a:ext cx="2468880" cy="31750"/>
          </a:xfrm>
          <a:prstGeom prst="rect">
            <a:avLst/>
          </a:prstGeom>
          <a:solidFill>
            <a:srgbClr val="4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0" y="3154680"/>
            <a:ext cx="2194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14100E"/>
                </a:solidFill>
                <a:latin typeface="Georgia"/>
              </a:rPr>
              <a:t>Team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6B6259"/>
                </a:solidFill>
                <a:latin typeface="Corbel"/>
              </a:rPr>
              <a:t>Name · Role · Bio · Consent flag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4251960"/>
            <a:ext cx="10543032" cy="1417320"/>
          </a:xfrm>
          <a:prstGeom prst="rect">
            <a:avLst/>
          </a:prstGeom>
          <a:solidFill>
            <a:srgbClr val="14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" y="4251960"/>
            <a:ext cx="10543032" cy="3810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5568" y="45262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950" b="1" spc="160">
                <a:solidFill>
                  <a:srgbClr val="E85D9E"/>
                </a:solidFill>
                <a:latin typeface="Corbel"/>
              </a:rPr>
              <a:t>TWO FIELDS THAT ARE NOT DECORATION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300" b="0">
                <a:solidFill>
                  <a:srgbClr val="F2EDE6"/>
                </a:solidFill>
                <a:latin typeface="Georgia"/>
              </a:rPr>
              <a:t>Impact metric carries Source and As-of date. Partner and Team carry a Consent flag.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B3A89E"/>
                </a:solidFill>
                <a:latin typeface="Corbel"/>
              </a:rPr>
              <a:t>These make it structurally awkward to publish a number nobody can stand behind, or to name a person or organisation that has not agreed. The content model enforces the honesty policy — rather than relying on whoever happens to be editing that day.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spc="120">
                <a:solidFill>
                  <a:srgbClr val="6B6259"/>
                </a:solidFill>
                <a:latin typeface="Corbel"/>
              </a:rPr>
              <a:t>25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0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20">
                <a:solidFill>
                  <a:srgbClr val="E85D9E"/>
                </a:solidFill>
                <a:latin typeface="Corbel"/>
              </a:rPr>
              <a:t>25 — TECHNICAL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spc="-90">
                <a:solidFill>
                  <a:srgbClr val="F2EDE6"/>
                </a:solidFill>
                <a:latin typeface="Georgia"/>
              </a:rPr>
              <a:t>Chosen for reasons, not résumé.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03120"/>
            <a:ext cx="3017520" cy="2540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267712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F2EDE6"/>
                </a:solidFill>
                <a:latin typeface="Georgia"/>
              </a:rPr>
              <a:t>Next.js + TypeScript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B3A89E"/>
                </a:solidFill>
                <a:latin typeface="Corbel"/>
              </a:rPr>
              <a:t>Editorial sites live or die on image performance and SEO.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2103120"/>
            <a:ext cx="3017520" cy="2540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2267712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F2EDE6"/>
                </a:solidFill>
                <a:latin typeface="Georgia"/>
              </a:rPr>
              <a:t>Headless CMS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B3A89E"/>
                </a:solidFill>
                <a:latin typeface="Corbel"/>
              </a:rPr>
              <a:t>The content model is relational; a page-based CMS cannot express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80" y="2103120"/>
            <a:ext cx="3017520" cy="2540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0" y="2267712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F2EDE6"/>
                </a:solidFill>
                <a:latin typeface="Georgia"/>
              </a:rPr>
              <a:t>Tailwind + design tokens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B3A89E"/>
                </a:solidFill>
                <a:latin typeface="Corbel"/>
              </a:rPr>
              <a:t>Tokens map 1:1 to the system, so contrast rules survive handoff.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291840"/>
            <a:ext cx="3017520" cy="2540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56432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F2EDE6"/>
                </a:solidFill>
                <a:latin typeface="Georgia"/>
              </a:rPr>
              <a:t>Art-directed images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B3A89E"/>
                </a:solidFill>
                <a:latin typeface="Corbel"/>
              </a:rPr>
              <a:t>AVIF/WebP, per breakpoint. Cinematic must not mean slow.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3291840"/>
            <a:ext cx="3017520" cy="2540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3456432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F2EDE6"/>
                </a:solidFill>
                <a:latin typeface="Georgia"/>
              </a:rPr>
              <a:t>Accessibility built in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B3A89E"/>
                </a:solidFill>
                <a:latin typeface="Corbel"/>
              </a:rPr>
              <a:t>WCAG 2.1 AA measured, not assumed.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3291840"/>
            <a:ext cx="3017520" cy="2540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3456432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F2EDE6"/>
                </a:solidFill>
                <a:latin typeface="Georgia"/>
              </a:rPr>
              <a:t>Eventbrite adapter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B3A89E"/>
                </a:solidFill>
                <a:latin typeface="Corbel"/>
              </a:rPr>
              <a:t>Behind a clean interface. Swappable, and not claimed as built.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892040"/>
            <a:ext cx="10543032" cy="658368"/>
          </a:xfrm>
          <a:prstGeom prst="rect">
            <a:avLst/>
          </a:prstGeom>
          <a:solidFill>
            <a:srgbClr val="4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1" spc="160">
                <a:solidFill>
                  <a:srgbClr val="E85D9E"/>
                </a:solidFill>
                <a:latin typeface="Corbel"/>
              </a:rPr>
              <a:t>TARGETS — 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F2EDE6"/>
                </a:solidFill>
                <a:latin typeface="Corbel"/>
              </a:rPr>
              <a:t>LCP under 2.5s on 4G · CLS under 0.1 · self-hosted fonts with metric-matched fallbacks · no autoplay with sound · semantic HTML, Article and Event schema.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spc="120">
                <a:solidFill>
                  <a:srgbClr val="B3A89E"/>
                </a:solidFill>
                <a:latin typeface="Corbel"/>
              </a:rPr>
              <a:t>26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20">
                <a:solidFill>
                  <a:srgbClr val="A8265C"/>
                </a:solidFill>
                <a:latin typeface="Corbel"/>
              </a:rPr>
              <a:t>26 —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spc="-90">
                <a:solidFill>
                  <a:srgbClr val="14100E"/>
                </a:solidFill>
                <a:latin typeface="Georgia"/>
              </a:rPr>
              <a:t>Seven steps.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1371600"/>
          </a:xfrm>
          <a:prstGeom prst="rect">
            <a:avLst/>
          </a:prstGeom>
          <a:solidFill>
            <a:srgbClr val="4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9572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F2EDE6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spc="80">
                <a:solidFill>
                  <a:srgbClr val="F2EDE6"/>
                </a:solidFill>
                <a:latin typeface="Corbel"/>
              </a:rPr>
              <a:t>Discover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74320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6B6259"/>
                </a:solidFill>
                <a:latin typeface="Corbel"/>
              </a:rPr>
              <a:t>›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2194560"/>
            <a:ext cx="1371600" cy="1371600"/>
          </a:xfrm>
          <a:prstGeom prst="rect">
            <a:avLst/>
          </a:prstGeom>
          <a:solidFill>
            <a:srgbClr val="4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239572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F2EDE6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9718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spc="80">
                <a:solidFill>
                  <a:srgbClr val="F2EDE6"/>
                </a:solidFill>
                <a:latin typeface="Corbel"/>
              </a:rPr>
              <a:t>Strategise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74320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6B6259"/>
                </a:solidFill>
                <a:latin typeface="Corbel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2194560"/>
            <a:ext cx="1371600" cy="1371600"/>
          </a:xfrm>
          <a:prstGeom prst="rect">
            <a:avLst/>
          </a:prstGeom>
          <a:solidFill>
            <a:srgbClr val="4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239572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F2EDE6"/>
                </a:solidFill>
                <a:latin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9718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spc="80">
                <a:solidFill>
                  <a:srgbClr val="F2EDE6"/>
                </a:solidFill>
                <a:latin typeface="Corbel"/>
              </a:rPr>
              <a:t>Wireframe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74320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6B6259"/>
                </a:solidFill>
                <a:latin typeface="Corbel"/>
              </a:rPr>
              <a:t>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49240" y="2194560"/>
            <a:ext cx="1371600" cy="1371600"/>
          </a:xfrm>
          <a:prstGeom prst="rect">
            <a:avLst/>
          </a:prstGeom>
          <a:solidFill>
            <a:srgbClr val="A82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239572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F2EDE6"/>
                </a:solidFill>
                <a:latin typeface="Georgia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9718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spc="80">
                <a:solidFill>
                  <a:srgbClr val="F2EDE6"/>
                </a:solidFill>
                <a:latin typeface="Corbel"/>
              </a:rPr>
              <a:t>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74320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6B6259"/>
                </a:solidFill>
                <a:latin typeface="Corbel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2194560"/>
            <a:ext cx="1371600" cy="1371600"/>
          </a:xfrm>
          <a:prstGeom prst="rect">
            <a:avLst/>
          </a:prstGeom>
          <a:solidFill>
            <a:srgbClr val="A82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239572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F2EDE6"/>
                </a:solidFill>
                <a:latin typeface="Georgia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9718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spc="80">
                <a:solidFill>
                  <a:srgbClr val="F2EDE6"/>
                </a:solidFill>
                <a:latin typeface="Corbel"/>
              </a:rPr>
              <a:t>Develop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74320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6B6259"/>
                </a:solidFill>
                <a:latin typeface="Corbel"/>
              </a:rPr>
              <a:t>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66760" y="2194560"/>
            <a:ext cx="1371600" cy="1371600"/>
          </a:xfrm>
          <a:prstGeom prst="rect">
            <a:avLst/>
          </a:prstGeom>
          <a:solidFill>
            <a:srgbClr val="A82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239572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F2EDE6"/>
                </a:solidFill>
                <a:latin typeface="Georgia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29718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spc="80">
                <a:solidFill>
                  <a:srgbClr val="F2EDE6"/>
                </a:solidFill>
                <a:latin typeface="Corbe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274320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6B6259"/>
                </a:solidFill>
                <a:latin typeface="Corbel"/>
              </a:rPr>
              <a:t>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75520" y="2194560"/>
            <a:ext cx="1371600" cy="1371600"/>
          </a:xfrm>
          <a:prstGeom prst="rect">
            <a:avLst/>
          </a:prstGeom>
          <a:solidFill>
            <a:srgbClr val="14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0" y="239572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F2EDE6"/>
                </a:solidFill>
                <a:latin typeface="Georgia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29718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spc="80">
                <a:solidFill>
                  <a:srgbClr val="F2EDE6"/>
                </a:solidFill>
                <a:latin typeface="Corbel"/>
              </a:rPr>
              <a:t>Launch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0233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6B6259"/>
                </a:solidFill>
                <a:latin typeface="Corbel"/>
              </a:rPr>
              <a:t>We do not skip the wireframe stage and we do not skip the concept comparison. Both already exist for SHUMI — this deck is the output of steps one to three.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spc="120">
                <a:solidFill>
                  <a:srgbClr val="6B6259"/>
                </a:solidFill>
                <a:latin typeface="Corbel"/>
              </a:rPr>
              <a:t>27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20">
                <a:solidFill>
                  <a:srgbClr val="A8265C"/>
                </a:solidFill>
                <a:latin typeface="Corbel"/>
              </a:rPr>
              <a:t>27 —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spc="-90">
                <a:solidFill>
                  <a:srgbClr val="14100E"/>
                </a:solidFill>
                <a:latin typeface="Georgia"/>
              </a:rPr>
              <a:t>Seven to eleven weeks.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4100E"/>
                </a:solidFill>
                <a:latin typeface="Corbel"/>
              </a:rPr>
              <a:t>Discovery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0" y="2048256"/>
            <a:ext cx="838200" cy="219456"/>
          </a:xfrm>
          <a:prstGeom prst="rect">
            <a:avLst/>
          </a:prstGeom>
          <a:solidFill>
            <a:srgbClr val="4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58056" y="203911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6259"/>
                </a:solidFill>
                <a:latin typeface="Corbe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7860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4100E"/>
                </a:solidFill>
                <a:latin typeface="Corbel"/>
              </a:rPr>
              <a:t>UX / Wireframes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2615184"/>
            <a:ext cx="838200" cy="219456"/>
          </a:xfrm>
          <a:prstGeom prst="rect">
            <a:avLst/>
          </a:prstGeom>
          <a:solidFill>
            <a:srgbClr val="4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30040" y="2615184"/>
            <a:ext cx="838200" cy="219456"/>
          </a:xfrm>
          <a:prstGeom prst="rect">
            <a:avLst/>
          </a:prstGeom>
          <a:solidFill>
            <a:srgbClr val="A82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96256" y="260604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6259"/>
                </a:solidFill>
                <a:latin typeface="Corbel"/>
              </a:rPr>
              <a:t>1–2 weeks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4553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4100E"/>
                </a:solidFill>
                <a:latin typeface="Corbel"/>
              </a:rPr>
              <a:t>UI Design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3182112"/>
            <a:ext cx="1676400" cy="219456"/>
          </a:xfrm>
          <a:prstGeom prst="rect">
            <a:avLst/>
          </a:prstGeom>
          <a:solidFill>
            <a:srgbClr val="4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6256" y="317296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6259"/>
                </a:solidFill>
                <a:latin typeface="Corbe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124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4100E"/>
                </a:solidFill>
                <a:latin typeface="Corbel"/>
              </a:rPr>
              <a:t>Development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3749040"/>
            <a:ext cx="1676400" cy="219456"/>
          </a:xfrm>
          <a:prstGeom prst="rect">
            <a:avLst/>
          </a:prstGeom>
          <a:solidFill>
            <a:srgbClr val="4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68240" y="3749040"/>
            <a:ext cx="1676400" cy="219456"/>
          </a:xfrm>
          <a:prstGeom prst="rect">
            <a:avLst/>
          </a:prstGeom>
          <a:solidFill>
            <a:srgbClr val="A82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72656" y="373989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6259"/>
                </a:solidFill>
                <a:latin typeface="Corbel"/>
              </a:rPr>
              <a:t>2–4 weeks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7939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4100E"/>
                </a:solidFill>
                <a:latin typeface="Corbel"/>
              </a:rPr>
              <a:t>Content / Integrations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4315968"/>
            <a:ext cx="838200" cy="219456"/>
          </a:xfrm>
          <a:prstGeom prst="rect">
            <a:avLst/>
          </a:prstGeom>
          <a:solidFill>
            <a:srgbClr val="4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30040" y="4315968"/>
            <a:ext cx="838200" cy="219456"/>
          </a:xfrm>
          <a:prstGeom prst="rect">
            <a:avLst/>
          </a:prstGeom>
          <a:solidFill>
            <a:srgbClr val="A82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96256" y="4306824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6259"/>
                </a:solidFill>
                <a:latin typeface="Corbel"/>
              </a:rPr>
              <a:t>1–2 weeks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84632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4100E"/>
                </a:solidFill>
                <a:latin typeface="Corbel"/>
              </a:rPr>
              <a:t>QA / Launch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4882896"/>
            <a:ext cx="838200" cy="219456"/>
          </a:xfrm>
          <a:prstGeom prst="rect">
            <a:avLst/>
          </a:prstGeom>
          <a:solidFill>
            <a:srgbClr val="4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8056" y="48737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6259"/>
                </a:solidFill>
                <a:latin typeface="Corbel"/>
              </a:rP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5532120"/>
            <a:ext cx="10543032" cy="640080"/>
          </a:xfrm>
          <a:prstGeom prst="rect">
            <a:avLst/>
          </a:prstGeom>
          <a:solidFill>
            <a:srgbClr val="14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7150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spc="160">
                <a:solidFill>
                  <a:srgbClr val="E85D9E"/>
                </a:solidFill>
                <a:latin typeface="Corbel"/>
              </a:rPr>
              <a:t>THIS IS AN ESTIMATE. </a:t>
            </a:r>
          </a:p>
          <a:p>
            <a:pPr algn="l"/>
            <a:r>
              <a:rPr sz="1100" b="0">
                <a:solidFill>
                  <a:srgbClr val="F2EDE6"/>
                </a:solidFill>
                <a:latin typeface="Corbel"/>
              </a:rPr>
              <a:t>It moves with content availability, feedback cycles and final scope — content is almost always the critical path, not development.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spc="120">
                <a:solidFill>
                  <a:srgbClr val="6B6259"/>
                </a:solidFill>
                <a:latin typeface="Corbel"/>
              </a:rPr>
              <a:t>28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0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20">
                <a:solidFill>
                  <a:srgbClr val="E85D9E"/>
                </a:solidFill>
                <a:latin typeface="Corbel"/>
              </a:rPr>
              <a:t>28 —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spc="-90">
                <a:solidFill>
                  <a:srgbClr val="F2EDE6"/>
                </a:solidFill>
                <a:latin typeface="Georgia"/>
              </a:rPr>
              <a:t>What you receive.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03120"/>
            <a:ext cx="2377440" cy="2540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EDE6"/>
                </a:solidFill>
                <a:latin typeface="Georgia"/>
              </a:rPr>
              <a:t>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916936"/>
            <a:ext cx="91440" cy="1905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2834640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2EDE6"/>
                </a:solidFill>
                <a:latin typeface="Corbel"/>
              </a:rPr>
              <a:t>UX strategy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337560"/>
            <a:ext cx="91440" cy="1905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3255264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2EDE6"/>
                </a:solidFill>
                <a:latin typeface="Corbel"/>
              </a:rPr>
              <a:t>Information architecture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758184"/>
            <a:ext cx="91440" cy="1905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3675888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2EDE6"/>
                </a:solidFill>
                <a:latin typeface="Corbel"/>
              </a:rPr>
              <a:t>Three creative directions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78808"/>
            <a:ext cx="91440" cy="1905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096512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2EDE6"/>
                </a:solidFill>
                <a:latin typeface="Corbel"/>
              </a:rPr>
              <a:t>Wireframes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2103120"/>
            <a:ext cx="2377440" cy="2540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28600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EDE6"/>
                </a:solidFill>
                <a:latin typeface="Georgia"/>
              </a:rPr>
              <a:t>Design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2916936"/>
            <a:ext cx="91440" cy="1905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4" y="2834640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2EDE6"/>
                </a:solidFill>
                <a:latin typeface="Corbel"/>
              </a:rPr>
              <a:t>Final UI design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0" y="3337560"/>
            <a:ext cx="91440" cy="1905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12464" y="3255264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2EDE6"/>
                </a:solidFill>
                <a:latin typeface="Corbel"/>
              </a:rPr>
              <a:t>Responsive design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3758184"/>
            <a:ext cx="91440" cy="1905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12464" y="3675888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2EDE6"/>
                </a:solidFill>
                <a:latin typeface="Corbel"/>
              </a:rPr>
              <a:t>Design system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4178808"/>
            <a:ext cx="91440" cy="1905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12464" y="4096512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2EDE6"/>
                </a:solidFill>
                <a:latin typeface="Corbel"/>
              </a:rPr>
              <a:t>Motion specification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2103120"/>
            <a:ext cx="2377440" cy="2540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228600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EDE6"/>
                </a:solidFill>
                <a:latin typeface="Georgia"/>
              </a:rPr>
              <a:t>Build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2916936"/>
            <a:ext cx="91440" cy="1905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2834640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2EDE6"/>
                </a:solidFill>
                <a:latin typeface="Corbel"/>
              </a:rPr>
              <a:t>Website development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3337560"/>
            <a:ext cx="91440" cy="1905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3255264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2EDE6"/>
                </a:solidFill>
                <a:latin typeface="Corbel"/>
              </a:rPr>
              <a:t>CMS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3758184"/>
            <a:ext cx="91440" cy="1905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64224" y="3675888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2EDE6"/>
                </a:solidFill>
                <a:latin typeface="Corbel"/>
              </a:rPr>
              <a:t>Event architecture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4178808"/>
            <a:ext cx="91440" cy="1905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64224" y="4096512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2EDE6"/>
                </a:solidFill>
                <a:latin typeface="Corbel"/>
              </a:rPr>
              <a:t>Forms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78240" y="2103120"/>
            <a:ext cx="2377440" cy="2540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78240" y="228600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EDE6"/>
                </a:solidFill>
                <a:latin typeface="Georgia"/>
              </a:rPr>
              <a:t>Launch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78240" y="2916936"/>
            <a:ext cx="91440" cy="1905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15984" y="2834640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2EDE6"/>
                </a:solidFill>
                <a:latin typeface="Corbel"/>
              </a:rPr>
              <a:t>SEO foundation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78240" y="3337560"/>
            <a:ext cx="91440" cy="1905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15984" y="3255264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2EDE6"/>
                </a:solidFill>
                <a:latin typeface="Corbel"/>
              </a:rPr>
              <a:t>Analytics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78240" y="3758184"/>
            <a:ext cx="91440" cy="1905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15984" y="3675888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2EDE6"/>
                </a:solidFill>
                <a:latin typeface="Corbel"/>
              </a:rPr>
              <a:t>Accessibility audit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78240" y="4178808"/>
            <a:ext cx="91440" cy="1905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15984" y="4096512"/>
            <a:ext cx="228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2EDE6"/>
                </a:solidFill>
                <a:latin typeface="Corbel"/>
              </a:rPr>
              <a:t>QA, deployment &amp; support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spc="120">
                <a:solidFill>
                  <a:srgbClr val="B3A89E"/>
                </a:solidFill>
                <a:latin typeface="Corbel"/>
              </a:rPr>
              <a:t>29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20">
                <a:solidFill>
                  <a:srgbClr val="A8265C"/>
                </a:solidFill>
                <a:latin typeface="Corbel"/>
              </a:rPr>
              <a:t>29 — INVESTMENT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spc="-90">
                <a:solidFill>
                  <a:srgbClr val="14100E"/>
                </a:solidFill>
                <a:latin typeface="Georgia"/>
              </a:rPr>
              <a:t>Investment.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938528"/>
            <a:ext cx="10543032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1168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00" b="0">
                <a:solidFill>
                  <a:srgbClr val="14100E"/>
                </a:solidFill>
                <a:latin typeface="Georgia"/>
              </a:rPr>
              <a:t>Strategy &amp; UX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259"/>
                </a:solidFill>
                <a:latin typeface="Corbel"/>
              </a:rPr>
              <a:t>Discovery, IA, wireframes, three directions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574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" b="0" spc="-40">
                <a:solidFill>
                  <a:srgbClr val="A8265C"/>
                </a:solidFill>
                <a:latin typeface="Georgia"/>
              </a:rPr>
              <a:t>$XX,XXX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24912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00" b="0">
                <a:solidFill>
                  <a:srgbClr val="14100E"/>
                </a:solidFill>
                <a:latin typeface="Georgia"/>
              </a:rPr>
              <a:t>UI / Visual design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259"/>
                </a:solidFill>
                <a:latin typeface="Corbel"/>
              </a:rPr>
              <a:t>Final design, responsive, design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77063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" b="0" spc="-40">
                <a:solidFill>
                  <a:srgbClr val="A8265C"/>
                </a:solidFill>
                <a:latin typeface="Georgia"/>
              </a:rPr>
              <a:t>$XX,XXX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364992"/>
            <a:ext cx="10543032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38144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00" b="0">
                <a:solidFill>
                  <a:srgbClr val="14100E"/>
                </a:solidFill>
                <a:latin typeface="Georgia"/>
              </a:rPr>
              <a:t>Development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259"/>
                </a:solidFill>
                <a:latin typeface="Corbel"/>
              </a:rPr>
              <a:t>Frontend build, performance, accessibility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48386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" b="0" spc="-40">
                <a:solidFill>
                  <a:srgbClr val="A8265C"/>
                </a:solidFill>
                <a:latin typeface="Georgia"/>
              </a:rPr>
              <a:t>$XX,XXX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151376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00" b="0">
                <a:solidFill>
                  <a:srgbClr val="14100E"/>
                </a:solidFill>
                <a:latin typeface="Georgia"/>
              </a:rPr>
              <a:t>CMS &amp; integrations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259"/>
                </a:solidFill>
                <a:latin typeface="Corbel"/>
              </a:rPr>
              <a:t>Content model, forms, event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197096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" b="0" spc="-40">
                <a:solidFill>
                  <a:srgbClr val="A8265C"/>
                </a:solidFill>
                <a:latin typeface="Georgia"/>
              </a:rPr>
              <a:t>$XX,XXX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791456"/>
            <a:ext cx="10543032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864608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00" b="0">
                <a:solidFill>
                  <a:srgbClr val="14100E"/>
                </a:solidFill>
                <a:latin typeface="Georgia"/>
              </a:rPr>
              <a:t>Testing &amp; launch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259"/>
                </a:solidFill>
                <a:latin typeface="Corbel"/>
              </a:rPr>
              <a:t>QA, deployment, launch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491032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" b="0" spc="-40">
                <a:solidFill>
                  <a:srgbClr val="A8265C"/>
                </a:solidFill>
                <a:latin typeface="Georgia"/>
              </a:rPr>
              <a:t>$XX,XXX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577840"/>
            <a:ext cx="10543032" cy="25400"/>
          </a:xfrm>
          <a:prstGeom prst="rect">
            <a:avLst/>
          </a:prstGeom>
          <a:solidFill>
            <a:srgbClr val="14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7424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4100E"/>
                </a:solidFill>
                <a:latin typeface="Georgia"/>
              </a:rPr>
              <a:t>Total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572414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400" b="1" spc="-40">
                <a:solidFill>
                  <a:srgbClr val="14100E"/>
                </a:solidFill>
                <a:latin typeface="Georgia"/>
              </a:rPr>
              <a:t>$XX,XXX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806440"/>
            <a:ext cx="10543032" cy="548640"/>
          </a:xfrm>
          <a:prstGeom prst="rect">
            <a:avLst/>
          </a:prstGeom>
          <a:solidFill>
            <a:srgbClr val="4A1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9618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120">
                <a:solidFill>
                  <a:srgbClr val="E85D9E"/>
                </a:solidFill>
                <a:latin typeface="Corbel"/>
              </a:rPr>
              <a:t>Figures are placeholders. </a:t>
            </a:r>
          </a:p>
          <a:p>
            <a:pPr algn="l"/>
            <a:r>
              <a:rPr sz="1050" b="0">
                <a:solidFill>
                  <a:srgbClr val="F2EDE6"/>
                </a:solidFill>
                <a:latin typeface="Corbel"/>
              </a:rPr>
              <a:t>No pricing has been invented — these are filled in once scope is confirmed with SHUMI.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spc="120">
                <a:solidFill>
                  <a:srgbClr val="6B6259"/>
                </a:solidFill>
                <a:latin typeface="Corbel"/>
              </a:rPr>
              <a:t>30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12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3-speak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0"/>
            <a:ext cx="48737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315200" y="0"/>
            <a:ext cx="4873752" cy="6858000"/>
          </a:xfrm>
          <a:prstGeom prst="rect">
            <a:avLst/>
          </a:prstGeom>
          <a:solidFill>
            <a:srgbClr val="4A1228">
              <a:alpha val="3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20">
                <a:solidFill>
                  <a:srgbClr val="E85D9E"/>
                </a:solidFill>
                <a:latin typeface="Corbel"/>
              </a:rPr>
              <a:t>30 — WHY TEDCANLABS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6035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spc="-90">
                <a:solidFill>
                  <a:srgbClr val="F2EDE6"/>
                </a:solidFill>
                <a:latin typeface="Georgia"/>
              </a:rPr>
              <a:t>Four things, done together.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87168"/>
            <a:ext cx="118872" cy="1905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2377440"/>
            <a:ext cx="5669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900" b="0">
                <a:solidFill>
                  <a:srgbClr val="F2EDE6"/>
                </a:solidFill>
                <a:latin typeface="Georgia"/>
              </a:rPr>
              <a:t>Strategy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B3A89E"/>
                </a:solidFill>
                <a:latin typeface="Corbel"/>
              </a:rPr>
              <a:t>We start with the argument, not the pages.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355848"/>
            <a:ext cx="118872" cy="1905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3246120"/>
            <a:ext cx="5669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900" b="0">
                <a:solidFill>
                  <a:srgbClr val="F2EDE6"/>
                </a:solidFill>
                <a:latin typeface="Georgia"/>
              </a:rPr>
              <a:t>Design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B3A89E"/>
                </a:solidFill>
                <a:latin typeface="Corbel"/>
              </a:rPr>
              <a:t>Premium digital experiences that hold up beside anyone's.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224528"/>
            <a:ext cx="118872" cy="1905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4114800"/>
            <a:ext cx="5669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900" b="0">
                <a:solidFill>
                  <a:srgbClr val="F2EDE6"/>
                </a:solidFill>
                <a:latin typeface="Georgia"/>
              </a:rPr>
              <a:t>Technology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B3A89E"/>
                </a:solidFill>
                <a:latin typeface="Corbel"/>
              </a:rPr>
              <a:t>Scalable implementation, built to be handed over.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5093208"/>
            <a:ext cx="118872" cy="1905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4983480"/>
            <a:ext cx="5669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900" b="0">
                <a:solidFill>
                  <a:srgbClr val="F2EDE6"/>
                </a:solidFill>
                <a:latin typeface="Georgia"/>
              </a:rPr>
              <a:t>Experience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B3A89E"/>
                </a:solidFill>
                <a:latin typeface="Corbel"/>
              </a:rPr>
              <a:t>Human-centred products, measured rather than assumed.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9788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85D9E"/>
                </a:solidFill>
                <a:latin typeface="Corbel"/>
              </a:rPr>
              <a:t>The quality of this document is the argument.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spc="120">
                <a:solidFill>
                  <a:srgbClr val="B3A89E"/>
                </a:solidFill>
                <a:latin typeface="Corbel"/>
              </a:rPr>
              <a:t>31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0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6_closing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00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93268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3600" b="0" spc="-100">
                <a:solidFill>
                  <a:srgbClr val="F2EDE6"/>
                </a:solidFill>
                <a:latin typeface="Georgia"/>
              </a:rPr>
              <a:t>SHUMI deserves a digital experience</a:t>
            </a:r>
          </a:p>
          <a:p>
            <a:pPr algn="l">
              <a:lnSpc>
                <a:spcPct val="105000"/>
              </a:lnSpc>
            </a:pPr>
            <a:r>
              <a:rPr sz="3600" b="0" spc="-100">
                <a:solidFill>
                  <a:srgbClr val="F2EDE6"/>
                </a:solidFill>
                <a:latin typeface="Georgia"/>
              </a:rPr>
              <a:t>that reflects the scale of its mission.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74980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B3A89E"/>
                </a:solidFill>
                <a:latin typeface="Corbel"/>
              </a:rPr>
              <a:t>A platform that does not simply tell people what SHUMI does — but lets them experience the women, stories, communities and impact behind the organisation.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800600"/>
            <a:ext cx="1463040" cy="38100"/>
          </a:xfrm>
          <a:prstGeom prst="rect">
            <a:avLst/>
          </a:prstGeom>
          <a:solidFill>
            <a:srgbClr val="E85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07492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spc="-80">
                <a:solidFill>
                  <a:srgbClr val="E85D9E"/>
                </a:solidFill>
                <a:latin typeface="Georgia"/>
              </a:rPr>
              <a:t>Let's build SHUMI's digital future.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978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40">
                <a:solidFill>
                  <a:srgbClr val="F2EDE6"/>
                </a:solidFill>
                <a:latin typeface="Corbel"/>
              </a:rPr>
              <a:t>TEDCANLABS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spc="120">
                <a:solidFill>
                  <a:srgbClr val="B3A89E"/>
                </a:solidFill>
                <a:latin typeface="Corbel"/>
              </a:rPr>
              <a:t>32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  <mc:AlternateContent xmlns:mc="http://schemas.openxmlformats.org/markup-compatibility/2006" xmlns:p14="http://schemas.microsoft.com/office/powerpoint/2010/main">
    <mc:Choice Requires="p14">
      <p:transition spd="slow" p14:dur="10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